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12191675"/>
  <p:notesSz cx="6858000" cy="9144000"/>
  <p:embeddedFontLst>
    <p:embeddedFont>
      <p:font typeface="Roboto"/>
      <p:regular r:id="rId15"/>
      <p:bold r:id="rId16"/>
      <p:italic r:id="rId17"/>
      <p:boldItalic r:id="rId18"/>
    </p:embeddedFont>
    <p:embeddedFont>
      <p:font typeface="Roboto Mono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3" roundtripDataSignature="AMtx7mjBEm5F9z7/R53ybtnkUo0mpGJB+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Mono-bold.fntdata"/><Relationship Id="rId11" Type="http://schemas.openxmlformats.org/officeDocument/2006/relationships/slide" Target="slides/slide6.xml"/><Relationship Id="rId22" Type="http://schemas.openxmlformats.org/officeDocument/2006/relationships/font" Target="fonts/RobotoMono-boldItalic.fntdata"/><Relationship Id="rId10" Type="http://schemas.openxmlformats.org/officeDocument/2006/relationships/slide" Target="slides/slide5.xml"/><Relationship Id="rId21" Type="http://schemas.openxmlformats.org/officeDocument/2006/relationships/font" Target="fonts/RobotoMono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regular.fntdata"/><Relationship Id="rId14" Type="http://schemas.openxmlformats.org/officeDocument/2006/relationships/slide" Target="slides/slide9.xml"/><Relationship Id="rId17" Type="http://schemas.openxmlformats.org/officeDocument/2006/relationships/font" Target="fonts/Roboto-italic.fntdata"/><Relationship Id="rId16" Type="http://schemas.openxmlformats.org/officeDocument/2006/relationships/font" Target="fonts/Roboto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obotoMono-regular.fntdata"/><Relationship Id="rId6" Type="http://schemas.openxmlformats.org/officeDocument/2006/relationships/slide" Target="slides/slide1.xml"/><Relationship Id="rId18" Type="http://schemas.openxmlformats.org/officeDocument/2006/relationships/font" Target="fonts/Robo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D0D0D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solidFill>
                <a:srgbClr val="0D0D0D"/>
              </a:solidFill>
            </a:endParaRPr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rgbClr val="0D0D0D"/>
                </a:solidFill>
              </a:rPr>
              <a:t>A projekt mögött egy kétfős csapat áll, mi, Pajor Máté és Szabó-Geiger Máté vagyunk. A munkát megosztottuk, hogy hatékonyak legyünk: én főként a backend és frontend fejlesztésért, a route-ok kiépítéséért, a dashboard megtervezéséért és az értesítési rendszerért feleltem. Társam pedig az adatbázis műveletekre, a service réteg implementálására és a hibajavításokra fókuszált. Ha megnézzük a végleges számokat, a közös munkánk 153 commitot eredményezett, ami igazolja, hogy mindketten aktívan és folyamatosan dolgoztunk a rendszeren.</a:t>
            </a:r>
            <a:endParaRPr/>
          </a:p>
        </p:txBody>
      </p:sp>
      <p:sp>
        <p:nvSpPr>
          <p:cNvPr id="98" name="Google Shape;9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rgbClr val="0D0D0D"/>
                </a:solidFill>
                <a:highlight>
                  <a:srgbClr val="F8F8F8"/>
                </a:highlight>
              </a:rPr>
              <a:t>Nézzük meg, milyen technológiák alkotják a rendszert! A backend, vagyis a háttér a Node.js és az Express.js-re épül, amivel gyors és hatékony szerveroldali logikát tudtunk írni. Az adatoknál az SQLite-t választottuk, mert kisebb projektekhez tökéletes, és nem igényel külön telepítést; a kód és az adatbázis közötti hidat pedig a Sequelize ORM jelenti. A biztonságot JWT hitelesítéssel oldottuk meg – ez lényegében egy digitális belépőkártya, ami csak a jogosultaknak engedélyezi a belépést. Ehhez kapcsolódik az Express-validator, ami leellenőrzi, hogy a felhasználók által megadott adatok helyesek-e, például nincsenek-e üresen hagyott mezők.</a:t>
            </a:r>
            <a:endParaRPr sz="1400">
              <a:solidFill>
                <a:srgbClr val="0D0D0D"/>
              </a:solidFill>
              <a:highlight>
                <a:srgbClr val="F8F8F8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rgbClr val="0D0D0D"/>
                </a:solidFill>
                <a:highlight>
                  <a:srgbClr val="F8F8F8"/>
                </a:highlight>
              </a:rPr>
              <a:t>A frontend, vagyis amit a felhasználó lát, a Vue.js 3-ra épül. Ez egy modern eszköz, amivel gyors és átlátható felületet tudunk készíteni. A fejlesztést nagyban felgyorsította a Vite. Az alkalmazáson belüli adatkezelést – hogy mindenhol ugyanazt az információt lássa a rendszer – a Pinia végzi, míg a vizuális megjelenést a Bootstrap 5-nek köszönhetően tudtuk gyorsan és elegánsan megoldani, anélkül, hogy mindent nulláról kellett volna megírni.</a:t>
            </a:r>
            <a:endParaRPr/>
          </a:p>
        </p:txBody>
      </p:sp>
      <p:sp>
        <p:nvSpPr>
          <p:cNvPr id="175" name="Google Shape;17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rgbClr val="0D0D0D"/>
                </a:solidFill>
              </a:rPr>
              <a:t>Nézzük meg részletesebben, hogy mit is tud a rendszer a gyakorlatban. A funkciókat négy fő modulra lehet osztani. Az első a diákkezelés: itt tudunk új diákokat beiratkozni, adataikat módosítani, és a beköltözésüket adminisztrálni. A második modul a szobakezelés, ami a rendszer egyik legfontosabb része – nemcsak a foglaltságot követi nyomon, hanem a diákok szobaváltási kérelmeit is kezeli. A harmadik a szülők és lakcímek modulja, ahol a diákokhoz kötött családi és elérhetőségi adatokat tároljuk biztonságosan. Végül pedig megépítettünk egy értesítési rendszert is, ami lehetővé teszi, hogy az adminisztrátorok közvetlenül, akár automatizáltan is üzeneteket juttassanak el a diákokhoz.</a:t>
            </a:r>
            <a:endParaRPr sz="1400">
              <a:solidFill>
                <a:srgbClr val="0D0D0D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rgbClr val="0D0D0D"/>
                </a:solidFill>
              </a:rPr>
              <a:t>Let's dive deeper into the technical implementation of our system. We built a robust </a:t>
            </a:r>
            <a:r>
              <a:rPr lang="en-US" sz="1400">
                <a:solidFill>
                  <a:schemeClr val="dk1"/>
                </a:solidFill>
              </a:rPr>
              <a:t>full-stack architecture</a:t>
            </a:r>
            <a:r>
              <a:rPr lang="en-US" sz="1400">
                <a:solidFill>
                  <a:srgbClr val="0D0D0D"/>
                </a:solidFill>
              </a:rPr>
              <a:t> designed for both performance and scalability.</a:t>
            </a:r>
            <a:endParaRPr sz="1400">
              <a:solidFill>
                <a:srgbClr val="0D0D0D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rgbClr val="0D0D0D"/>
                </a:solidFill>
              </a:rPr>
              <a:t>Starting with the </a:t>
            </a:r>
            <a:r>
              <a:rPr lang="en-US" sz="1400">
                <a:solidFill>
                  <a:schemeClr val="dk1"/>
                </a:solidFill>
              </a:rPr>
              <a:t>Backend</a:t>
            </a:r>
            <a:r>
              <a:rPr lang="en-US" sz="1400">
                <a:solidFill>
                  <a:srgbClr val="0D0D0D"/>
                </a:solidFill>
              </a:rPr>
              <a:t>, we utilized </a:t>
            </a:r>
            <a:r>
              <a:rPr lang="en-US" sz="1400">
                <a:solidFill>
                  <a:schemeClr val="dk1"/>
                </a:solidFill>
              </a:rPr>
              <a:t>Node.js</a:t>
            </a:r>
            <a:r>
              <a:rPr lang="en-US" sz="1400">
                <a:solidFill>
                  <a:srgbClr val="0D0D0D"/>
                </a:solidFill>
              </a:rPr>
              <a:t> combined with </a:t>
            </a:r>
            <a:r>
              <a:rPr lang="en-US" sz="1400">
                <a:solidFill>
                  <a:schemeClr val="dk1"/>
                </a:solidFill>
              </a:rPr>
              <a:t>Express.js</a:t>
            </a:r>
            <a:r>
              <a:rPr lang="en-US" sz="1400">
                <a:solidFill>
                  <a:srgbClr val="0D0D0D"/>
                </a:solidFill>
              </a:rPr>
              <a:t> to handle server-side logic. For data management, we selected </a:t>
            </a:r>
            <a:r>
              <a:rPr lang="en-US" sz="1400">
                <a:solidFill>
                  <a:schemeClr val="dk1"/>
                </a:solidFill>
              </a:rPr>
              <a:t>SQLite</a:t>
            </a:r>
            <a:r>
              <a:rPr lang="en-US" sz="1400">
                <a:solidFill>
                  <a:srgbClr val="0D0D0D"/>
                </a:solidFill>
              </a:rPr>
              <a:t> paired with the </a:t>
            </a:r>
            <a:r>
              <a:rPr lang="en-US" sz="1400">
                <a:solidFill>
                  <a:schemeClr val="dk1"/>
                </a:solidFill>
              </a:rPr>
              <a:t>Sequelize ORM(Object-Relational Mapping)</a:t>
            </a:r>
            <a:r>
              <a:rPr lang="en-US" sz="1400">
                <a:solidFill>
                  <a:srgbClr val="0D0D0D"/>
                </a:solidFill>
              </a:rPr>
              <a:t>, which allows for efficient and organized database operations. Security was a top priority for us, so we implemented </a:t>
            </a:r>
            <a:r>
              <a:rPr lang="en-US" sz="1400">
                <a:solidFill>
                  <a:schemeClr val="dk1"/>
                </a:solidFill>
              </a:rPr>
              <a:t>JWT authentication(JSON Web Tokens)</a:t>
            </a:r>
            <a:r>
              <a:rPr lang="en-US" sz="1400">
                <a:solidFill>
                  <a:srgbClr val="0D0D0D"/>
                </a:solidFill>
              </a:rPr>
              <a:t> and </a:t>
            </a:r>
            <a:r>
              <a:rPr lang="en-US" sz="1400">
                <a:solidFill>
                  <a:schemeClr val="dk1"/>
                </a:solidFill>
              </a:rPr>
              <a:t>Express-validator</a:t>
            </a:r>
            <a:r>
              <a:rPr lang="en-US" sz="1400">
                <a:solidFill>
                  <a:srgbClr val="0D0D0D"/>
                </a:solidFill>
              </a:rPr>
              <a:t> to ensure data integrity.</a:t>
            </a:r>
            <a:endParaRPr sz="1400">
              <a:solidFill>
                <a:srgbClr val="0D0D0D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rgbClr val="0D0D0D"/>
                </a:solidFill>
              </a:rPr>
              <a:t>Turning to the </a:t>
            </a:r>
            <a:r>
              <a:rPr lang="en-US" sz="1400">
                <a:solidFill>
                  <a:schemeClr val="dk1"/>
                </a:solidFill>
              </a:rPr>
              <a:t>Frontend</a:t>
            </a:r>
            <a:r>
              <a:rPr lang="en-US" sz="1400">
                <a:solidFill>
                  <a:srgbClr val="0D0D0D"/>
                </a:solidFill>
              </a:rPr>
              <a:t>, we developed a reactive and modern user interface using </a:t>
            </a:r>
            <a:r>
              <a:rPr lang="en-US" sz="1400">
                <a:solidFill>
                  <a:schemeClr val="dk1"/>
                </a:solidFill>
              </a:rPr>
              <a:t>Vue.js 3</a:t>
            </a:r>
            <a:r>
              <a:rPr lang="en-US" sz="1400">
                <a:solidFill>
                  <a:srgbClr val="0D0D0D"/>
                </a:solidFill>
              </a:rPr>
              <a:t> with the Composition API. We integrated </a:t>
            </a:r>
            <a:r>
              <a:rPr lang="en-US" sz="1400">
                <a:solidFill>
                  <a:schemeClr val="dk1"/>
                </a:solidFill>
              </a:rPr>
              <a:t>Pinia</a:t>
            </a:r>
            <a:r>
              <a:rPr lang="en-US" sz="1400">
                <a:solidFill>
                  <a:srgbClr val="0D0D0D"/>
                </a:solidFill>
              </a:rPr>
              <a:t> for state management to keep our data flow organized, and used </a:t>
            </a:r>
            <a:r>
              <a:rPr lang="en-US" sz="1400">
                <a:solidFill>
                  <a:schemeClr val="dk1"/>
                </a:solidFill>
              </a:rPr>
              <a:t>Vite</a:t>
            </a:r>
            <a:r>
              <a:rPr lang="en-US" sz="1400">
                <a:solidFill>
                  <a:srgbClr val="0D0D0D"/>
                </a:solidFill>
              </a:rPr>
              <a:t> as our build tool for faster development, styled with </a:t>
            </a:r>
            <a:r>
              <a:rPr lang="en-US" sz="1400">
                <a:solidFill>
                  <a:schemeClr val="dk1"/>
                </a:solidFill>
              </a:rPr>
              <a:t>Bootstrap 5</a:t>
            </a:r>
            <a:r>
              <a:rPr lang="en-US" sz="1400">
                <a:solidFill>
                  <a:srgbClr val="0D0D0D"/>
                </a:solidFill>
              </a:rPr>
              <a:t>.</a:t>
            </a:r>
            <a:endParaRPr sz="1400">
              <a:solidFill>
                <a:srgbClr val="0D0D0D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rgbClr val="0D0D0D"/>
                </a:solidFill>
              </a:rPr>
              <a:t>Regarding our </a:t>
            </a:r>
            <a:r>
              <a:rPr lang="en-US" sz="1400">
                <a:solidFill>
                  <a:schemeClr val="dk1"/>
                </a:solidFill>
              </a:rPr>
              <a:t>key achievements</a:t>
            </a:r>
            <a:r>
              <a:rPr lang="en-US" sz="1400">
                <a:solidFill>
                  <a:srgbClr val="0D0D0D"/>
                </a:solidFill>
              </a:rPr>
              <a:t>, we successfully designed a </a:t>
            </a:r>
            <a:r>
              <a:rPr lang="en-US" sz="1400">
                <a:solidFill>
                  <a:schemeClr val="dk1"/>
                </a:solidFill>
              </a:rPr>
              <a:t>RESTful API</a:t>
            </a:r>
            <a:r>
              <a:rPr lang="en-US" sz="1400">
                <a:solidFill>
                  <a:srgbClr val="0D0D0D"/>
                </a:solidFill>
              </a:rPr>
              <a:t> with five main endpoints supporting comprehensive CRUD operations. We also established a secure authentication system based on user roles and access control. Finally, our </a:t>
            </a:r>
            <a:r>
              <a:rPr lang="en-US" sz="1400">
                <a:solidFill>
                  <a:schemeClr val="dk1"/>
                </a:solidFill>
              </a:rPr>
              <a:t>development approach</a:t>
            </a:r>
            <a:r>
              <a:rPr lang="en-US" sz="1400">
                <a:solidFill>
                  <a:srgbClr val="0D0D0D"/>
                </a:solidFill>
              </a:rPr>
              <a:t> focused on close collaboration, utilizing a clean architecture and modular code structure to maintain the highest quality standards.</a:t>
            </a:r>
            <a:endParaRPr sz="1400">
              <a:solidFill>
                <a:srgbClr val="0D0D0D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8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9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0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1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jpg"/><Relationship Id="rId4" Type="http://schemas.openxmlformats.org/officeDocument/2006/relationships/image" Target="../media/image21.png"/><Relationship Id="rId5" Type="http://schemas.openxmlformats.org/officeDocument/2006/relationships/hyperlink" Target="https://github.com/Kanyr-86/KANYR" TargetMode="External"/><Relationship Id="rId6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5.png"/><Relationship Id="rId4" Type="http://schemas.openxmlformats.org/officeDocument/2006/relationships/image" Target="../media/image5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6.png"/><Relationship Id="rId4" Type="http://schemas.openxmlformats.org/officeDocument/2006/relationships/image" Target="../media/image11.png"/><Relationship Id="rId9" Type="http://schemas.openxmlformats.org/officeDocument/2006/relationships/image" Target="../media/image1.png"/><Relationship Id="rId5" Type="http://schemas.openxmlformats.org/officeDocument/2006/relationships/image" Target="../media/image17.png"/><Relationship Id="rId6" Type="http://schemas.openxmlformats.org/officeDocument/2006/relationships/image" Target="../media/image9.png"/><Relationship Id="rId7" Type="http://schemas.openxmlformats.org/officeDocument/2006/relationships/image" Target="../media/image8.png"/><Relationship Id="rId8" Type="http://schemas.openxmlformats.org/officeDocument/2006/relationships/image" Target="../media/image16.png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image" Target="../media/image19.png"/><Relationship Id="rId10" Type="http://schemas.openxmlformats.org/officeDocument/2006/relationships/image" Target="../media/image24.png"/><Relationship Id="rId13" Type="http://schemas.openxmlformats.org/officeDocument/2006/relationships/image" Target="../media/image30.png"/><Relationship Id="rId12" Type="http://schemas.openxmlformats.org/officeDocument/2006/relationships/image" Target="../media/image3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15.png"/><Relationship Id="rId9" Type="http://schemas.openxmlformats.org/officeDocument/2006/relationships/image" Target="../media/image39.png"/><Relationship Id="rId5" Type="http://schemas.openxmlformats.org/officeDocument/2006/relationships/image" Target="../media/image20.png"/><Relationship Id="rId6" Type="http://schemas.openxmlformats.org/officeDocument/2006/relationships/image" Target="../media/image7.png"/><Relationship Id="rId7" Type="http://schemas.openxmlformats.org/officeDocument/2006/relationships/image" Target="../media/image28.png"/><Relationship Id="rId8" Type="http://schemas.openxmlformats.org/officeDocument/2006/relationships/image" Target="../media/image1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Relationship Id="rId5" Type="http://schemas.openxmlformats.org/officeDocument/2006/relationships/image" Target="../media/image29.png"/><Relationship Id="rId6" Type="http://schemas.openxmlformats.org/officeDocument/2006/relationships/image" Target="../media/image23.png"/><Relationship Id="rId7" Type="http://schemas.openxmlformats.org/officeDocument/2006/relationships/image" Target="../media/image44.png"/><Relationship Id="rId8" Type="http://schemas.openxmlformats.org/officeDocument/2006/relationships/image" Target="../media/image4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1.png"/><Relationship Id="rId4" Type="http://schemas.openxmlformats.org/officeDocument/2006/relationships/image" Target="../media/image33.png"/><Relationship Id="rId5" Type="http://schemas.openxmlformats.org/officeDocument/2006/relationships/image" Target="../media/image35.png"/><Relationship Id="rId6" Type="http://schemas.openxmlformats.org/officeDocument/2006/relationships/image" Target="../media/image31.png"/><Relationship Id="rId7" Type="http://schemas.openxmlformats.org/officeDocument/2006/relationships/image" Target="../media/image48.png"/></Relationships>
</file>

<file path=ppt/slides/_rels/slide7.xml.rels><?xml version="1.0" encoding="UTF-8" standalone="yes"?><Relationships xmlns="http://schemas.openxmlformats.org/package/2006/relationships"><Relationship Id="rId11" Type="http://schemas.openxmlformats.org/officeDocument/2006/relationships/image" Target="../media/image45.png"/><Relationship Id="rId10" Type="http://schemas.openxmlformats.org/officeDocument/2006/relationships/image" Target="../media/image44.png"/><Relationship Id="rId12" Type="http://schemas.openxmlformats.org/officeDocument/2006/relationships/image" Target="../media/image4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3.png"/><Relationship Id="rId4" Type="http://schemas.openxmlformats.org/officeDocument/2006/relationships/image" Target="../media/image50.png"/><Relationship Id="rId9" Type="http://schemas.openxmlformats.org/officeDocument/2006/relationships/image" Target="../media/image46.png"/><Relationship Id="rId5" Type="http://schemas.openxmlformats.org/officeDocument/2006/relationships/image" Target="../media/image58.png"/><Relationship Id="rId6" Type="http://schemas.openxmlformats.org/officeDocument/2006/relationships/image" Target="../media/image21.png"/><Relationship Id="rId7" Type="http://schemas.openxmlformats.org/officeDocument/2006/relationships/image" Target="../media/image26.png"/><Relationship Id="rId8" Type="http://schemas.openxmlformats.org/officeDocument/2006/relationships/image" Target="../media/image5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6.png"/><Relationship Id="rId4" Type="http://schemas.openxmlformats.org/officeDocument/2006/relationships/image" Target="../media/image20.png"/><Relationship Id="rId5" Type="http://schemas.openxmlformats.org/officeDocument/2006/relationships/image" Target="../media/image55.png"/><Relationship Id="rId6" Type="http://schemas.openxmlformats.org/officeDocument/2006/relationships/image" Target="../media/image49.png"/><Relationship Id="rId7" Type="http://schemas.openxmlformats.org/officeDocument/2006/relationships/image" Target="../media/image41.png"/><Relationship Id="rId8" Type="http://schemas.openxmlformats.org/officeDocument/2006/relationships/image" Target="../media/image5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9.png"/><Relationship Id="rId4" Type="http://schemas.openxmlformats.org/officeDocument/2006/relationships/image" Target="../media/image60.png"/><Relationship Id="rId5" Type="http://schemas.openxmlformats.org/officeDocument/2006/relationships/image" Target="../media/image51.png"/><Relationship Id="rId6" Type="http://schemas.openxmlformats.org/officeDocument/2006/relationships/image" Target="../media/image5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E8E4D8"/>
            </a:gs>
            <a:gs pos="100000">
              <a:srgbClr val="F3F1ED"/>
            </a:gs>
          </a:gsLst>
          <a:lin ang="8100000" scaled="0"/>
        </a:gra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1ED">
              <a:alpha val="94901"/>
            </a:srgbClr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/>
          <p:nvPr/>
        </p:nvSpPr>
        <p:spPr>
          <a:xfrm>
            <a:off x="5505312" y="819149"/>
            <a:ext cx="1181070" cy="552450"/>
          </a:xfrm>
          <a:prstGeom prst="roundRect">
            <a:avLst>
              <a:gd fmla="val 27586" name="adj"/>
            </a:avLst>
          </a:prstGeom>
          <a:solidFill>
            <a:srgbClr val="D6C096"/>
          </a:solidFill>
          <a:ln cap="flat" cmpd="sng" w="24750">
            <a:solidFill>
              <a:srgbClr val="B89F6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5800051" y="957225"/>
            <a:ext cx="591600" cy="27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ctr">
              <a:lnSpc>
                <a:spcPct val="1691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76" u="none" cap="none" strike="noStrike">
                <a:solidFill>
                  <a:srgbClr val="1A1A1A"/>
                </a:solidFill>
                <a:latin typeface="Roboto Mono"/>
                <a:ea typeface="Roboto Mono"/>
                <a:cs typeface="Roboto Mono"/>
                <a:sym typeface="Roboto Mono"/>
              </a:rPr>
              <a:t>v</a:t>
            </a:r>
            <a:r>
              <a:rPr b="1" lang="en-US" sz="1076">
                <a:solidFill>
                  <a:srgbClr val="1A1A1A"/>
                </a:solidFill>
                <a:latin typeface="Roboto Mono"/>
                <a:ea typeface="Roboto Mono"/>
                <a:cs typeface="Roboto Mono"/>
                <a:sym typeface="Roboto Mono"/>
              </a:rPr>
              <a:t>2</a:t>
            </a:r>
            <a:r>
              <a:rPr b="1" i="0" lang="en-US" sz="1076" u="none" cap="none" strike="noStrike">
                <a:solidFill>
                  <a:srgbClr val="1A1A1A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b="1" lang="en-US" sz="1076">
                <a:solidFill>
                  <a:srgbClr val="1A1A1A"/>
                </a:solidFill>
                <a:latin typeface="Roboto Mono"/>
                <a:ea typeface="Roboto Mono"/>
                <a:cs typeface="Roboto Mono"/>
                <a:sym typeface="Roboto Mono"/>
              </a:rPr>
              <a:t>00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3114597" y="1981199"/>
            <a:ext cx="5962500" cy="752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ctr">
              <a:lnSpc>
                <a:spcPct val="1192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05" u="none" cap="none" strike="noStrike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KANYR</a:t>
            </a:r>
            <a:endParaRPr/>
          </a:p>
        </p:txBody>
      </p:sp>
      <p:sp>
        <p:nvSpPr>
          <p:cNvPr id="89" name="Google Shape;89;p1"/>
          <p:cNvSpPr txBox="1"/>
          <p:nvPr/>
        </p:nvSpPr>
        <p:spPr>
          <a:xfrm>
            <a:off x="3114597" y="2962274"/>
            <a:ext cx="596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ctr">
              <a:lnSpc>
                <a:spcPct val="139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13" u="none" cap="none" strike="noStrike">
                <a:solidFill>
                  <a:srgbClr val="2A2A2A"/>
                </a:solidFill>
                <a:latin typeface="Roboto"/>
                <a:ea typeface="Roboto"/>
                <a:cs typeface="Roboto"/>
                <a:sym typeface="Roboto"/>
              </a:rPr>
              <a:t>Kollégiumi Adatbázis Nyilvántartó Rendszer</a:t>
            </a:r>
            <a:endParaRPr/>
          </a:p>
        </p:txBody>
      </p:sp>
      <p:sp>
        <p:nvSpPr>
          <p:cNvPr id="90" name="Google Shape;90;p1"/>
          <p:cNvSpPr/>
          <p:nvPr/>
        </p:nvSpPr>
        <p:spPr>
          <a:xfrm>
            <a:off x="3114597" y="3809999"/>
            <a:ext cx="5962500" cy="609600"/>
          </a:xfrm>
          <a:prstGeom prst="roundRect">
            <a:avLst>
              <a:gd fmla="val 25000" name="adj"/>
            </a:avLst>
          </a:prstGeom>
          <a:solidFill>
            <a:srgbClr val="D6C096">
              <a:alpha val="20000"/>
            </a:srgbClr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91" name="Google Shape;91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00379" y="3997569"/>
            <a:ext cx="304792" cy="234461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"/>
          <p:cNvSpPr txBox="1"/>
          <p:nvPr/>
        </p:nvSpPr>
        <p:spPr>
          <a:xfrm>
            <a:off x="4257568" y="3962399"/>
            <a:ext cx="4133746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ctr">
              <a:lnSpc>
                <a:spcPct val="14494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35" u="none" cap="none" strike="noStrike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Ganz Ábrahám Technikum - 13.B osztály</a:t>
            </a:r>
            <a:endParaRPr/>
          </a:p>
        </p:txBody>
      </p:sp>
      <p:sp>
        <p:nvSpPr>
          <p:cNvPr id="93" name="Google Shape;93;p1"/>
          <p:cNvSpPr/>
          <p:nvPr/>
        </p:nvSpPr>
        <p:spPr>
          <a:xfrm>
            <a:off x="3114597" y="5124449"/>
            <a:ext cx="5962500" cy="495299"/>
          </a:xfrm>
          <a:prstGeom prst="roundRect">
            <a:avLst>
              <a:gd fmla="val 30769" name="adj"/>
            </a:avLst>
          </a:prstGeom>
          <a:solidFill>
            <a:srgbClr val="D6C096">
              <a:alpha val="14901"/>
            </a:srgbClr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u="sng">
                <a:solidFill>
                  <a:srgbClr val="1A1A1A"/>
                </a:solidFill>
                <a:latin typeface="Roboto Mono"/>
                <a:ea typeface="Roboto Mono"/>
                <a:cs typeface="Roboto Mono"/>
                <a:sym typeface="Roboto Mon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https://github.com/Kanyr-86/KANYR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94" name="Google Shape;94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019449" y="5308323"/>
            <a:ext cx="266693" cy="127552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"/>
          <p:cNvSpPr txBox="1"/>
          <p:nvPr/>
        </p:nvSpPr>
        <p:spPr>
          <a:xfrm>
            <a:off x="3114597" y="4544888"/>
            <a:ext cx="5962500" cy="27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ctr">
              <a:lnSpc>
                <a:spcPct val="1691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76" u="none" cap="none" strike="noStrike">
                <a:solidFill>
                  <a:srgbClr val="4A4A4A"/>
                </a:solidFill>
                <a:latin typeface="Roboto"/>
                <a:ea typeface="Roboto"/>
                <a:cs typeface="Roboto"/>
                <a:sym typeface="Roboto"/>
              </a:rPr>
              <a:t>Diák Projekt - 2026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E8E4D8"/>
            </a:gs>
            <a:gs pos="100000">
              <a:srgbClr val="F3F1ED"/>
            </a:gs>
          </a:gsLst>
          <a:lin ang="8100000" scaled="0"/>
        </a:gra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/>
          <p:cNvSpPr txBox="1"/>
          <p:nvPr/>
        </p:nvSpPr>
        <p:spPr>
          <a:xfrm>
            <a:off x="609584" y="76200"/>
            <a:ext cx="3657508" cy="628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630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31" u="none" cap="none" strike="noStrike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A Projekt Fejlesztői</a:t>
            </a:r>
            <a:endParaRPr/>
          </a:p>
        </p:txBody>
      </p:sp>
      <p:sp>
        <p:nvSpPr>
          <p:cNvPr id="101" name="Google Shape;101;p2"/>
          <p:cNvSpPr/>
          <p:nvPr/>
        </p:nvSpPr>
        <p:spPr>
          <a:xfrm>
            <a:off x="2919413" y="704850"/>
            <a:ext cx="1219200" cy="1219200"/>
          </a:xfrm>
          <a:prstGeom prst="roundRect">
            <a:avLst>
              <a:gd fmla="val 100000" name="adj"/>
            </a:avLst>
          </a:prstGeom>
          <a:solidFill>
            <a:srgbClr val="D6C096"/>
          </a:solidFill>
          <a:ln cap="flat" cmpd="sng" w="24750">
            <a:solidFill>
              <a:srgbClr val="B89F6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2"/>
          <p:cNvSpPr/>
          <p:nvPr/>
        </p:nvSpPr>
        <p:spPr>
          <a:xfrm>
            <a:off x="2948063" y="733425"/>
            <a:ext cx="1161900" cy="1162200"/>
          </a:xfrm>
          <a:prstGeom prst="roundRect">
            <a:avLst>
              <a:gd fmla="val 50000" name="adj"/>
            </a:avLst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2"/>
          <p:cNvSpPr txBox="1"/>
          <p:nvPr/>
        </p:nvSpPr>
        <p:spPr>
          <a:xfrm>
            <a:off x="2343125" y="2060775"/>
            <a:ext cx="2371800" cy="79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ctr">
              <a:lnSpc>
                <a:spcPct val="1631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13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Pajor Máté</a:t>
            </a:r>
            <a:endParaRPr b="1" sz="1913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631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13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(github.com/</a:t>
            </a:r>
            <a:r>
              <a:rPr b="1" i="0" lang="en-US" sz="1313" u="none" cap="none" strike="noStrike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Dexushun32</a:t>
            </a:r>
            <a:r>
              <a:rPr b="1" lang="en-US" sz="1313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800"/>
          </a:p>
        </p:txBody>
      </p:sp>
      <p:sp>
        <p:nvSpPr>
          <p:cNvPr id="104" name="Google Shape;104;p2"/>
          <p:cNvSpPr/>
          <p:nvPr/>
        </p:nvSpPr>
        <p:spPr>
          <a:xfrm>
            <a:off x="1219169" y="3019424"/>
            <a:ext cx="4648200" cy="533400"/>
          </a:xfrm>
          <a:prstGeom prst="roundRect">
            <a:avLst>
              <a:gd fmla="val 28571" name="adj"/>
            </a:avLst>
          </a:prstGeom>
          <a:solidFill>
            <a:srgbClr val="D6C096"/>
          </a:solidFill>
          <a:ln cap="flat" cmpd="sng" w="16500">
            <a:solidFill>
              <a:srgbClr val="B89F6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05" name="Google Shape;105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28854" y="3235153"/>
            <a:ext cx="209544" cy="101943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2"/>
          <p:cNvSpPr txBox="1"/>
          <p:nvPr/>
        </p:nvSpPr>
        <p:spPr>
          <a:xfrm>
            <a:off x="3114597" y="3152775"/>
            <a:ext cx="11430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ctr">
              <a:lnSpc>
                <a:spcPct val="1521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96">
                <a:solidFill>
                  <a:srgbClr val="1A1A1A"/>
                </a:solidFill>
                <a:latin typeface="Roboto Mono"/>
                <a:ea typeface="Roboto Mono"/>
                <a:cs typeface="Roboto Mono"/>
                <a:sym typeface="Roboto Mono"/>
              </a:rPr>
              <a:t>91</a:t>
            </a:r>
            <a:r>
              <a:rPr b="1" i="0" lang="en-US" sz="1196" u="none" cap="none" strike="noStrike">
                <a:solidFill>
                  <a:srgbClr val="1A1A1A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i="0" lang="en-US" sz="1196" u="none" cap="none" strike="noStrike">
                <a:solidFill>
                  <a:srgbClr val="1A1A1A"/>
                </a:solidFill>
                <a:latin typeface="Roboto Mono"/>
                <a:ea typeface="Roboto Mono"/>
                <a:cs typeface="Roboto Mono"/>
                <a:sym typeface="Roboto Mono"/>
              </a:rPr>
              <a:t>commit</a:t>
            </a:r>
            <a:endParaRPr/>
          </a:p>
        </p:txBody>
      </p:sp>
      <p:sp>
        <p:nvSpPr>
          <p:cNvPr id="107" name="Google Shape;107;p2"/>
          <p:cNvSpPr/>
          <p:nvPr/>
        </p:nvSpPr>
        <p:spPr>
          <a:xfrm>
            <a:off x="1219169" y="3667124"/>
            <a:ext cx="2295467" cy="523874"/>
          </a:xfrm>
          <a:prstGeom prst="roundRect">
            <a:avLst>
              <a:gd fmla="val 29090" name="adj"/>
            </a:avLst>
          </a:prstGeom>
          <a:solidFill>
            <a:srgbClr val="D6C096">
              <a:alpha val="25098"/>
            </a:srgbClr>
          </a:solidFill>
          <a:ln cap="flat" cmpd="sng" w="9525">
            <a:solidFill>
              <a:srgbClr val="B89F6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Backend fejlesztés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2"/>
          <p:cNvSpPr txBox="1"/>
          <p:nvPr/>
        </p:nvSpPr>
        <p:spPr>
          <a:xfrm>
            <a:off x="2304992" y="3809999"/>
            <a:ext cx="123821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ctr">
              <a:lnSpc>
                <a:spcPct val="1631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6" u="none" cap="none" strike="noStrik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...</a:t>
            </a:r>
            <a:endParaRPr/>
          </a:p>
        </p:txBody>
      </p:sp>
      <p:sp>
        <p:nvSpPr>
          <p:cNvPr id="109" name="Google Shape;109;p2"/>
          <p:cNvSpPr/>
          <p:nvPr/>
        </p:nvSpPr>
        <p:spPr>
          <a:xfrm>
            <a:off x="3571785" y="3667124"/>
            <a:ext cx="2295467" cy="523874"/>
          </a:xfrm>
          <a:prstGeom prst="roundRect">
            <a:avLst>
              <a:gd fmla="val 29090" name="adj"/>
            </a:avLst>
          </a:prstGeom>
          <a:solidFill>
            <a:srgbClr val="D6C096">
              <a:alpha val="25098"/>
            </a:srgbClr>
          </a:solidFill>
          <a:ln cap="flat" cmpd="sng" w="9525">
            <a:solidFill>
              <a:srgbClr val="B89F6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rontend fejlesztés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2"/>
          <p:cNvSpPr txBox="1"/>
          <p:nvPr/>
        </p:nvSpPr>
        <p:spPr>
          <a:xfrm>
            <a:off x="4657608" y="3809999"/>
            <a:ext cx="123821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ctr">
              <a:lnSpc>
                <a:spcPct val="1631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6" u="none" cap="none" strike="noStrik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...</a:t>
            </a:r>
            <a:endParaRPr/>
          </a:p>
        </p:txBody>
      </p:sp>
      <p:sp>
        <p:nvSpPr>
          <p:cNvPr id="111" name="Google Shape;111;p2"/>
          <p:cNvSpPr/>
          <p:nvPr/>
        </p:nvSpPr>
        <p:spPr>
          <a:xfrm>
            <a:off x="1219169" y="4248150"/>
            <a:ext cx="2295600" cy="523800"/>
          </a:xfrm>
          <a:prstGeom prst="roundRect">
            <a:avLst>
              <a:gd fmla="val 29090" name="adj"/>
            </a:avLst>
          </a:prstGeom>
          <a:solidFill>
            <a:srgbClr val="D6C096">
              <a:alpha val="25098"/>
            </a:srgbClr>
          </a:solidFill>
          <a:ln cap="flat" cmpd="sng" w="9525">
            <a:solidFill>
              <a:srgbClr val="B89F6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Route inicializálás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2"/>
          <p:cNvSpPr/>
          <p:nvPr/>
        </p:nvSpPr>
        <p:spPr>
          <a:xfrm>
            <a:off x="3571800" y="4248150"/>
            <a:ext cx="2295600" cy="523800"/>
          </a:xfrm>
          <a:prstGeom prst="roundRect">
            <a:avLst>
              <a:gd fmla="val 29090" name="adj"/>
            </a:avLst>
          </a:prstGeom>
          <a:solidFill>
            <a:srgbClr val="D6C096">
              <a:alpha val="25098"/>
            </a:srgbClr>
          </a:solidFill>
          <a:ln cap="flat" cmpd="sng" w="9525">
            <a:solidFill>
              <a:srgbClr val="B89F6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Dashboard</a:t>
            </a: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implementálás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2"/>
          <p:cNvSpPr txBox="1"/>
          <p:nvPr/>
        </p:nvSpPr>
        <p:spPr>
          <a:xfrm>
            <a:off x="4657608" y="4400550"/>
            <a:ext cx="123821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ctr">
              <a:lnSpc>
                <a:spcPct val="1631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6" u="none" cap="none" strike="noStrik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...</a:t>
            </a:r>
            <a:endParaRPr/>
          </a:p>
        </p:txBody>
      </p:sp>
      <p:sp>
        <p:nvSpPr>
          <p:cNvPr id="114" name="Google Shape;114;p2"/>
          <p:cNvSpPr/>
          <p:nvPr/>
        </p:nvSpPr>
        <p:spPr>
          <a:xfrm>
            <a:off x="1219169" y="4829175"/>
            <a:ext cx="2295467" cy="523874"/>
          </a:xfrm>
          <a:prstGeom prst="roundRect">
            <a:avLst>
              <a:gd fmla="val 29090" name="adj"/>
            </a:avLst>
          </a:prstGeom>
          <a:solidFill>
            <a:srgbClr val="D6C096">
              <a:alpha val="25098"/>
            </a:srgbClr>
          </a:solidFill>
          <a:ln cap="flat" cmpd="sng" w="9525">
            <a:solidFill>
              <a:srgbClr val="B89F6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É</a:t>
            </a: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rtesítési</a:t>
            </a: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rendszer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2"/>
          <p:cNvSpPr txBox="1"/>
          <p:nvPr/>
        </p:nvSpPr>
        <p:spPr>
          <a:xfrm>
            <a:off x="2285342" y="4972050"/>
            <a:ext cx="123900" cy="73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ctr">
              <a:lnSpc>
                <a:spcPct val="1631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6" u="none" cap="none" strike="noStrik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...</a:t>
            </a:r>
            <a:endParaRPr/>
          </a:p>
        </p:txBody>
      </p:sp>
      <p:sp>
        <p:nvSpPr>
          <p:cNvPr id="116" name="Google Shape;116;p2"/>
          <p:cNvSpPr/>
          <p:nvPr/>
        </p:nvSpPr>
        <p:spPr>
          <a:xfrm>
            <a:off x="3571785" y="4829175"/>
            <a:ext cx="2295467" cy="523874"/>
          </a:xfrm>
          <a:prstGeom prst="roundRect">
            <a:avLst>
              <a:gd fmla="val 29090" name="adj"/>
            </a:avLst>
          </a:prstGeom>
          <a:solidFill>
            <a:srgbClr val="D6C096">
              <a:alpha val="25098"/>
            </a:srgbClr>
          </a:solidFill>
          <a:ln cap="flat" cmpd="sng" w="9525">
            <a:solidFill>
              <a:srgbClr val="B89F6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API végpontok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2"/>
          <p:cNvSpPr txBox="1"/>
          <p:nvPr/>
        </p:nvSpPr>
        <p:spPr>
          <a:xfrm>
            <a:off x="4657608" y="4972050"/>
            <a:ext cx="123821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ctr">
              <a:lnSpc>
                <a:spcPct val="1631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6" u="none" cap="none" strike="noStrik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...</a:t>
            </a:r>
            <a:endParaRPr/>
          </a:p>
        </p:txBody>
      </p:sp>
      <p:sp>
        <p:nvSpPr>
          <p:cNvPr id="118" name="Google Shape;118;p2"/>
          <p:cNvSpPr/>
          <p:nvPr/>
        </p:nvSpPr>
        <p:spPr>
          <a:xfrm>
            <a:off x="8024687" y="704850"/>
            <a:ext cx="1219200" cy="1219200"/>
          </a:xfrm>
          <a:prstGeom prst="roundRect">
            <a:avLst>
              <a:gd fmla="val 50000" name="adj"/>
            </a:avLst>
          </a:prstGeom>
          <a:solidFill>
            <a:srgbClr val="D6C096"/>
          </a:solidFill>
          <a:ln cap="flat" cmpd="sng" w="24750">
            <a:solidFill>
              <a:srgbClr val="B89F6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2"/>
          <p:cNvSpPr/>
          <p:nvPr/>
        </p:nvSpPr>
        <p:spPr>
          <a:xfrm>
            <a:off x="8048636" y="733425"/>
            <a:ext cx="1161900" cy="1162200"/>
          </a:xfrm>
          <a:prstGeom prst="roundRect">
            <a:avLst>
              <a:gd fmla="val 50000" name="adj"/>
            </a:avLst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2"/>
          <p:cNvSpPr txBox="1"/>
          <p:nvPr/>
        </p:nvSpPr>
        <p:spPr>
          <a:xfrm>
            <a:off x="7329367" y="1983350"/>
            <a:ext cx="2600400" cy="79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ctr">
              <a:lnSpc>
                <a:spcPct val="1631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13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Szabó-Geiger Máté</a:t>
            </a:r>
            <a:endParaRPr b="1" sz="1913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631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13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(github.com/</a:t>
            </a:r>
            <a:r>
              <a:rPr b="1" i="0" lang="en-US" sz="1313" u="none" cap="none" strike="noStrike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Dazsekszon)</a:t>
            </a:r>
            <a:endParaRPr sz="800"/>
          </a:p>
        </p:txBody>
      </p:sp>
      <p:sp>
        <p:nvSpPr>
          <p:cNvPr id="121" name="Google Shape;121;p2"/>
          <p:cNvSpPr/>
          <p:nvPr/>
        </p:nvSpPr>
        <p:spPr>
          <a:xfrm>
            <a:off x="6324441" y="3019424"/>
            <a:ext cx="4648083" cy="533399"/>
          </a:xfrm>
          <a:prstGeom prst="roundRect">
            <a:avLst>
              <a:gd fmla="val 28571" name="adj"/>
            </a:avLst>
          </a:prstGeom>
          <a:solidFill>
            <a:srgbClr val="D6C096"/>
          </a:solidFill>
          <a:ln cap="flat" cmpd="sng" w="16500">
            <a:solidFill>
              <a:srgbClr val="B89F6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22" name="Google Shape;122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34126" y="3235153"/>
            <a:ext cx="209544" cy="101943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2"/>
          <p:cNvSpPr txBox="1"/>
          <p:nvPr/>
        </p:nvSpPr>
        <p:spPr>
          <a:xfrm>
            <a:off x="8219869" y="3152775"/>
            <a:ext cx="11430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ctr">
              <a:lnSpc>
                <a:spcPct val="1521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96">
                <a:solidFill>
                  <a:srgbClr val="1A1A1A"/>
                </a:solidFill>
                <a:latin typeface="Roboto Mono"/>
                <a:ea typeface="Roboto Mono"/>
                <a:cs typeface="Roboto Mono"/>
                <a:sym typeface="Roboto Mono"/>
              </a:rPr>
              <a:t>62</a:t>
            </a:r>
            <a:r>
              <a:rPr b="1" i="0" lang="en-US" sz="1196" u="none" cap="none" strike="noStrike">
                <a:solidFill>
                  <a:srgbClr val="1A1A1A"/>
                </a:solidFill>
                <a:latin typeface="Roboto Mono"/>
                <a:ea typeface="Roboto Mono"/>
                <a:cs typeface="Roboto Mono"/>
                <a:sym typeface="Roboto Mono"/>
              </a:rPr>
              <a:t> commit</a:t>
            </a:r>
            <a:endParaRPr/>
          </a:p>
        </p:txBody>
      </p:sp>
      <p:sp>
        <p:nvSpPr>
          <p:cNvPr id="124" name="Google Shape;124;p2"/>
          <p:cNvSpPr/>
          <p:nvPr/>
        </p:nvSpPr>
        <p:spPr>
          <a:xfrm>
            <a:off x="6324441" y="3667124"/>
            <a:ext cx="2295467" cy="523874"/>
          </a:xfrm>
          <a:prstGeom prst="roundRect">
            <a:avLst>
              <a:gd fmla="val 29090" name="adj"/>
            </a:avLst>
          </a:prstGeom>
          <a:solidFill>
            <a:srgbClr val="D6C096">
              <a:alpha val="25098"/>
            </a:srgbClr>
          </a:solidFill>
          <a:ln cap="flat" cmpd="sng" w="9525">
            <a:solidFill>
              <a:srgbClr val="B89F6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Backend funkciók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2"/>
          <p:cNvSpPr txBox="1"/>
          <p:nvPr/>
        </p:nvSpPr>
        <p:spPr>
          <a:xfrm>
            <a:off x="7410264" y="3809999"/>
            <a:ext cx="123821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ctr">
              <a:lnSpc>
                <a:spcPct val="1631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6" u="none" cap="none" strike="noStrik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...</a:t>
            </a:r>
            <a:endParaRPr/>
          </a:p>
        </p:txBody>
      </p:sp>
      <p:sp>
        <p:nvSpPr>
          <p:cNvPr id="126" name="Google Shape;126;p2"/>
          <p:cNvSpPr/>
          <p:nvPr/>
        </p:nvSpPr>
        <p:spPr>
          <a:xfrm>
            <a:off x="8677058" y="3667124"/>
            <a:ext cx="2295467" cy="523874"/>
          </a:xfrm>
          <a:prstGeom prst="roundRect">
            <a:avLst>
              <a:gd fmla="val 29090" name="adj"/>
            </a:avLst>
          </a:prstGeom>
          <a:solidFill>
            <a:srgbClr val="D6C096">
              <a:alpha val="25098"/>
            </a:srgbClr>
          </a:solidFill>
          <a:ln cap="flat" cmpd="sng" w="9525">
            <a:solidFill>
              <a:srgbClr val="B89F6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Adatbázis műveletek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2"/>
          <p:cNvSpPr txBox="1"/>
          <p:nvPr/>
        </p:nvSpPr>
        <p:spPr>
          <a:xfrm>
            <a:off x="9762880" y="3809999"/>
            <a:ext cx="123821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ctr">
              <a:lnSpc>
                <a:spcPct val="1631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6" u="none" cap="none" strike="noStrik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...</a:t>
            </a:r>
            <a:endParaRPr/>
          </a:p>
        </p:txBody>
      </p:sp>
      <p:sp>
        <p:nvSpPr>
          <p:cNvPr id="128" name="Google Shape;128;p2"/>
          <p:cNvSpPr/>
          <p:nvPr/>
        </p:nvSpPr>
        <p:spPr>
          <a:xfrm>
            <a:off x="6324441" y="4248150"/>
            <a:ext cx="2295467" cy="523874"/>
          </a:xfrm>
          <a:prstGeom prst="roundRect">
            <a:avLst>
              <a:gd fmla="val 29090" name="adj"/>
            </a:avLst>
          </a:prstGeom>
          <a:solidFill>
            <a:srgbClr val="D6C096">
              <a:alpha val="25098"/>
            </a:srgbClr>
          </a:solidFill>
          <a:ln cap="flat" cmpd="sng" w="9525">
            <a:solidFill>
              <a:srgbClr val="B89F6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Integrációs munkák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2"/>
          <p:cNvSpPr txBox="1"/>
          <p:nvPr/>
        </p:nvSpPr>
        <p:spPr>
          <a:xfrm>
            <a:off x="7410264" y="4400550"/>
            <a:ext cx="123821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ctr">
              <a:lnSpc>
                <a:spcPct val="1631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6" u="none" cap="none" strike="noStrik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...</a:t>
            </a:r>
            <a:endParaRPr/>
          </a:p>
        </p:txBody>
      </p:sp>
      <p:sp>
        <p:nvSpPr>
          <p:cNvPr id="130" name="Google Shape;130;p2"/>
          <p:cNvSpPr/>
          <p:nvPr/>
        </p:nvSpPr>
        <p:spPr>
          <a:xfrm>
            <a:off x="8677058" y="4248150"/>
            <a:ext cx="2295467" cy="523874"/>
          </a:xfrm>
          <a:prstGeom prst="roundRect">
            <a:avLst>
              <a:gd fmla="val 29090" name="adj"/>
            </a:avLst>
          </a:prstGeom>
          <a:solidFill>
            <a:srgbClr val="D6C096">
              <a:alpha val="25098"/>
            </a:srgbClr>
          </a:solidFill>
          <a:ln cap="flat" cmpd="sng" w="9525">
            <a:solidFill>
              <a:srgbClr val="B89F6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Repository fejlesztés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2"/>
          <p:cNvSpPr txBox="1"/>
          <p:nvPr/>
        </p:nvSpPr>
        <p:spPr>
          <a:xfrm>
            <a:off x="9762880" y="4400550"/>
            <a:ext cx="123821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ctr">
              <a:lnSpc>
                <a:spcPct val="1631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6" u="none" cap="none" strike="noStrik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...</a:t>
            </a:r>
            <a:endParaRPr/>
          </a:p>
        </p:txBody>
      </p:sp>
      <p:sp>
        <p:nvSpPr>
          <p:cNvPr id="132" name="Google Shape;132;p2"/>
          <p:cNvSpPr/>
          <p:nvPr/>
        </p:nvSpPr>
        <p:spPr>
          <a:xfrm>
            <a:off x="6324441" y="4829175"/>
            <a:ext cx="2295467" cy="523874"/>
          </a:xfrm>
          <a:prstGeom prst="roundRect">
            <a:avLst>
              <a:gd fmla="val 29090" name="adj"/>
            </a:avLst>
          </a:prstGeom>
          <a:solidFill>
            <a:srgbClr val="D6C096">
              <a:alpha val="25098"/>
            </a:srgbClr>
          </a:solidFill>
          <a:ln cap="flat" cmpd="sng" w="9525">
            <a:solidFill>
              <a:srgbClr val="B89F6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Service implementáció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2"/>
          <p:cNvSpPr/>
          <p:nvPr/>
        </p:nvSpPr>
        <p:spPr>
          <a:xfrm>
            <a:off x="8677058" y="4829175"/>
            <a:ext cx="2295467" cy="523874"/>
          </a:xfrm>
          <a:prstGeom prst="roundRect">
            <a:avLst>
              <a:gd fmla="val 29090" name="adj"/>
            </a:avLst>
          </a:prstGeom>
          <a:solidFill>
            <a:srgbClr val="D6C096">
              <a:alpha val="25098"/>
            </a:srgbClr>
          </a:solidFill>
          <a:ln cap="flat" cmpd="sng" w="9525">
            <a:solidFill>
              <a:srgbClr val="B89F6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Hibajavítások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2"/>
          <p:cNvSpPr txBox="1"/>
          <p:nvPr/>
        </p:nvSpPr>
        <p:spPr>
          <a:xfrm>
            <a:off x="9762880" y="4972050"/>
            <a:ext cx="123821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ctr">
              <a:lnSpc>
                <a:spcPct val="1631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6" u="none" cap="none" strike="noStrik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...</a:t>
            </a:r>
            <a:endParaRPr/>
          </a:p>
        </p:txBody>
      </p:sp>
      <p:sp>
        <p:nvSpPr>
          <p:cNvPr id="135" name="Google Shape;135;p2"/>
          <p:cNvSpPr/>
          <p:nvPr/>
        </p:nvSpPr>
        <p:spPr>
          <a:xfrm>
            <a:off x="1219169" y="5581649"/>
            <a:ext cx="9753300" cy="762000"/>
          </a:xfrm>
          <a:prstGeom prst="roundRect">
            <a:avLst>
              <a:gd fmla="val 20000" name="adj"/>
            </a:avLst>
          </a:prstGeom>
          <a:solidFill>
            <a:srgbClr val="D6C096"/>
          </a:solidFill>
          <a:ln cap="flat" cmpd="sng" w="16500">
            <a:solidFill>
              <a:srgbClr val="B89F6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36" name="Google Shape;136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495687" y="5890177"/>
            <a:ext cx="266693" cy="144945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"/>
          <p:cNvSpPr txBox="1"/>
          <p:nvPr/>
        </p:nvSpPr>
        <p:spPr>
          <a:xfrm>
            <a:off x="4876675" y="5810250"/>
            <a:ext cx="2452800" cy="33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4494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35" u="none" cap="none" strike="noStrike">
                <a:solidFill>
                  <a:srgbClr val="2A2A2A"/>
                </a:solidFill>
                <a:latin typeface="Roboto"/>
                <a:ea typeface="Roboto"/>
                <a:cs typeface="Roboto"/>
                <a:sym typeface="Roboto"/>
              </a:rPr>
              <a:t>Összes </a:t>
            </a:r>
            <a:r>
              <a:rPr b="0" i="0" lang="en-US" sz="1435" u="none" cap="none" strike="noStrike">
                <a:solidFill>
                  <a:srgbClr val="2A2A2A"/>
                </a:solidFill>
                <a:latin typeface="Roboto"/>
                <a:ea typeface="Roboto"/>
                <a:cs typeface="Roboto"/>
                <a:sym typeface="Roboto"/>
              </a:rPr>
              <a:t>közreműködés</a:t>
            </a:r>
            <a:r>
              <a:rPr b="0" i="0" lang="en-US" sz="1435" u="none" cap="none" strike="noStrike">
                <a:solidFill>
                  <a:srgbClr val="2A2A2A"/>
                </a:solidFill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b="1" lang="en-US" sz="1435">
                <a:solidFill>
                  <a:srgbClr val="2A2A2A"/>
                </a:solidFill>
                <a:latin typeface="Roboto"/>
                <a:ea typeface="Roboto"/>
                <a:cs typeface="Roboto"/>
                <a:sym typeface="Roboto"/>
              </a:rPr>
              <a:t>176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8" name="Google Shape;138;p2"/>
          <p:cNvSpPr/>
          <p:nvPr/>
        </p:nvSpPr>
        <p:spPr>
          <a:xfrm>
            <a:off x="4138625" y="6343650"/>
            <a:ext cx="3886200" cy="495300"/>
          </a:xfrm>
          <a:prstGeom prst="roundRect">
            <a:avLst>
              <a:gd fmla="val 30769" name="adj"/>
            </a:avLst>
          </a:prstGeom>
          <a:solidFill>
            <a:srgbClr val="D6C096">
              <a:alpha val="20000"/>
            </a:srgbClr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39" name="Google Shape;139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514729" y="6528435"/>
            <a:ext cx="228594" cy="12572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"/>
          <p:cNvSpPr txBox="1"/>
          <p:nvPr/>
        </p:nvSpPr>
        <p:spPr>
          <a:xfrm>
            <a:off x="4543345" y="6453150"/>
            <a:ext cx="3105000" cy="27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ctr">
              <a:lnSpc>
                <a:spcPct val="1691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76" u="none" cap="none" strike="noStrike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Ganz Ábrahám Technikum - 13.B osztály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E8E4D8"/>
            </a:gs>
            <a:gs pos="100000">
              <a:srgbClr val="F3F1ED"/>
            </a:gs>
          </a:gsLst>
          <a:lin ang="8100000" scaled="0"/>
        </a:gra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"/>
          <p:cNvSpPr txBox="1"/>
          <p:nvPr/>
        </p:nvSpPr>
        <p:spPr>
          <a:xfrm>
            <a:off x="609584" y="76200"/>
            <a:ext cx="4429014" cy="628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630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31" u="none" cap="none" strike="noStrike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A Rendszer Áttekintése</a:t>
            </a:r>
            <a:endParaRPr/>
          </a:p>
        </p:txBody>
      </p:sp>
      <p:pic>
        <p:nvPicPr>
          <p:cNvPr descr="image.png" id="146" name="Google Shape;14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584" y="1598229"/>
            <a:ext cx="342891" cy="289691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3"/>
          <p:cNvSpPr txBox="1"/>
          <p:nvPr/>
        </p:nvSpPr>
        <p:spPr>
          <a:xfrm>
            <a:off x="1066773" y="1514475"/>
            <a:ext cx="165730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631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13" u="none" cap="none" strike="noStrike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Fő Funkciók</a:t>
            </a:r>
            <a:endParaRPr/>
          </a:p>
        </p:txBody>
      </p:sp>
      <p:sp>
        <p:nvSpPr>
          <p:cNvPr id="148" name="Google Shape;148;p3"/>
          <p:cNvSpPr/>
          <p:nvPr/>
        </p:nvSpPr>
        <p:spPr>
          <a:xfrm>
            <a:off x="609584" y="2162174"/>
            <a:ext cx="5410064" cy="723900"/>
          </a:xfrm>
          <a:prstGeom prst="roundRect">
            <a:avLst>
              <a:gd fmla="val 21052" name="adj"/>
            </a:avLst>
          </a:prstGeom>
          <a:solidFill>
            <a:srgbClr val="D6C096">
              <a:alpha val="25098"/>
            </a:srgbClr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3"/>
          <p:cNvSpPr/>
          <p:nvPr/>
        </p:nvSpPr>
        <p:spPr>
          <a:xfrm rot="-5400000">
            <a:off x="297164" y="2474594"/>
            <a:ext cx="723900" cy="9906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B89F6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50" name="Google Shape;150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42951" y="2391103"/>
            <a:ext cx="342891" cy="266043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3"/>
          <p:cNvSpPr txBox="1"/>
          <p:nvPr/>
        </p:nvSpPr>
        <p:spPr>
          <a:xfrm>
            <a:off x="1438239" y="2352675"/>
            <a:ext cx="4200419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739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96" u="none" cap="none" strike="noStrike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Diákok kezelése és szobákba történő elhelyezése</a:t>
            </a:r>
            <a:endParaRPr/>
          </a:p>
        </p:txBody>
      </p:sp>
      <p:sp>
        <p:nvSpPr>
          <p:cNvPr id="152" name="Google Shape;152;p3"/>
          <p:cNvSpPr/>
          <p:nvPr/>
        </p:nvSpPr>
        <p:spPr>
          <a:xfrm>
            <a:off x="6172045" y="2162174"/>
            <a:ext cx="5410064" cy="723900"/>
          </a:xfrm>
          <a:prstGeom prst="roundRect">
            <a:avLst>
              <a:gd fmla="val 21052" name="adj"/>
            </a:avLst>
          </a:prstGeom>
          <a:solidFill>
            <a:srgbClr val="D6C096">
              <a:alpha val="25098"/>
            </a:srgbClr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3"/>
          <p:cNvSpPr/>
          <p:nvPr/>
        </p:nvSpPr>
        <p:spPr>
          <a:xfrm rot="-5400000">
            <a:off x="5859625" y="2474594"/>
            <a:ext cx="723900" cy="9906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B89F6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54" name="Google Shape;154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05412" y="2379279"/>
            <a:ext cx="342891" cy="289691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3"/>
          <p:cNvSpPr txBox="1"/>
          <p:nvPr/>
        </p:nvSpPr>
        <p:spPr>
          <a:xfrm>
            <a:off x="7000699" y="2352675"/>
            <a:ext cx="2886002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739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96" u="none" cap="none" strike="noStrike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Szülők és lakcímek nyilvántartása</a:t>
            </a:r>
            <a:endParaRPr/>
          </a:p>
        </p:txBody>
      </p:sp>
      <p:sp>
        <p:nvSpPr>
          <p:cNvPr id="156" name="Google Shape;156;p3"/>
          <p:cNvSpPr/>
          <p:nvPr/>
        </p:nvSpPr>
        <p:spPr>
          <a:xfrm>
            <a:off x="609584" y="3038475"/>
            <a:ext cx="5410064" cy="723900"/>
          </a:xfrm>
          <a:prstGeom prst="roundRect">
            <a:avLst>
              <a:gd fmla="val 21052" name="adj"/>
            </a:avLst>
          </a:prstGeom>
          <a:solidFill>
            <a:srgbClr val="D6C096">
              <a:alpha val="25098"/>
            </a:srgbClr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3"/>
          <p:cNvSpPr/>
          <p:nvPr/>
        </p:nvSpPr>
        <p:spPr>
          <a:xfrm rot="-5400000">
            <a:off x="297164" y="3350895"/>
            <a:ext cx="723900" cy="9906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B89F6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58" name="Google Shape;158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42951" y="3267403"/>
            <a:ext cx="342891" cy="266043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3"/>
          <p:cNvSpPr txBox="1"/>
          <p:nvPr/>
        </p:nvSpPr>
        <p:spPr>
          <a:xfrm>
            <a:off x="1438239" y="3228975"/>
            <a:ext cx="2752656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739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96" u="none" cap="none" strike="noStrike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Szobák foglaltságának követése</a:t>
            </a:r>
            <a:endParaRPr/>
          </a:p>
        </p:txBody>
      </p:sp>
      <p:sp>
        <p:nvSpPr>
          <p:cNvPr id="160" name="Google Shape;160;p3"/>
          <p:cNvSpPr/>
          <p:nvPr/>
        </p:nvSpPr>
        <p:spPr>
          <a:xfrm>
            <a:off x="6172045" y="3038475"/>
            <a:ext cx="5410064" cy="723900"/>
          </a:xfrm>
          <a:prstGeom prst="roundRect">
            <a:avLst>
              <a:gd fmla="val 21052" name="adj"/>
            </a:avLst>
          </a:prstGeom>
          <a:solidFill>
            <a:srgbClr val="D6C096">
              <a:alpha val="25098"/>
            </a:srgbClr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3"/>
          <p:cNvSpPr/>
          <p:nvPr/>
        </p:nvSpPr>
        <p:spPr>
          <a:xfrm rot="-5400000">
            <a:off x="5859625" y="3350895"/>
            <a:ext cx="723900" cy="9906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B89F6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62" name="Google Shape;162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05412" y="3294007"/>
            <a:ext cx="342891" cy="212834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3"/>
          <p:cNvSpPr txBox="1"/>
          <p:nvPr/>
        </p:nvSpPr>
        <p:spPr>
          <a:xfrm>
            <a:off x="7000699" y="3228975"/>
            <a:ext cx="2705032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739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96" u="none" cap="none" strike="noStrike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Szobaváltási kérelmek kezelése</a:t>
            </a:r>
            <a:endParaRPr/>
          </a:p>
        </p:txBody>
      </p:sp>
      <p:sp>
        <p:nvSpPr>
          <p:cNvPr id="164" name="Google Shape;164;p3"/>
          <p:cNvSpPr/>
          <p:nvPr/>
        </p:nvSpPr>
        <p:spPr>
          <a:xfrm>
            <a:off x="609584" y="3914775"/>
            <a:ext cx="5267193" cy="723900"/>
          </a:xfrm>
          <a:prstGeom prst="roundRect">
            <a:avLst>
              <a:gd fmla="val 21052" name="adj"/>
            </a:avLst>
          </a:prstGeom>
          <a:solidFill>
            <a:srgbClr val="D6C096">
              <a:alpha val="25098"/>
            </a:srgbClr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3"/>
          <p:cNvSpPr/>
          <p:nvPr/>
        </p:nvSpPr>
        <p:spPr>
          <a:xfrm rot="-5400000">
            <a:off x="297164" y="4227195"/>
            <a:ext cx="723900" cy="9906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B89F6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66" name="Google Shape;166;p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42951" y="4134835"/>
            <a:ext cx="342891" cy="283779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3"/>
          <p:cNvSpPr txBox="1"/>
          <p:nvPr/>
        </p:nvSpPr>
        <p:spPr>
          <a:xfrm>
            <a:off x="1438239" y="4105274"/>
            <a:ext cx="2009724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739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96" u="none" cap="none" strike="noStrike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Diák értesítési rendszer</a:t>
            </a:r>
            <a:endParaRPr/>
          </a:p>
        </p:txBody>
      </p:sp>
      <p:sp>
        <p:nvSpPr>
          <p:cNvPr id="168" name="Google Shape;168;p3"/>
          <p:cNvSpPr/>
          <p:nvPr/>
        </p:nvSpPr>
        <p:spPr>
          <a:xfrm>
            <a:off x="609584" y="4943475"/>
            <a:ext cx="10972525" cy="1219200"/>
          </a:xfrm>
          <a:prstGeom prst="roundRect">
            <a:avLst>
              <a:gd fmla="val 12500" name="adj"/>
            </a:avLst>
          </a:prstGeom>
          <a:solidFill>
            <a:srgbClr val="D6C09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3"/>
          <p:cNvSpPr/>
          <p:nvPr/>
        </p:nvSpPr>
        <p:spPr>
          <a:xfrm rot="-5400000">
            <a:off x="49514" y="5503545"/>
            <a:ext cx="1219200" cy="9906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B89F6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70" name="Google Shape;170;p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42951" y="5416440"/>
            <a:ext cx="342891" cy="254218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3"/>
          <p:cNvSpPr txBox="1"/>
          <p:nvPr/>
        </p:nvSpPr>
        <p:spPr>
          <a:xfrm>
            <a:off x="1438239" y="5172075"/>
            <a:ext cx="9200919" cy="37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6312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4" u="none" cap="none" strike="noStrike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Rendszer Célja</a:t>
            </a:r>
            <a:endParaRPr/>
          </a:p>
        </p:txBody>
      </p:sp>
      <p:sp>
        <p:nvSpPr>
          <p:cNvPr id="172" name="Google Shape;172;p3"/>
          <p:cNvSpPr txBox="1"/>
          <p:nvPr/>
        </p:nvSpPr>
        <p:spPr>
          <a:xfrm>
            <a:off x="1438239" y="5619750"/>
            <a:ext cx="9200919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739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96" u="none" cap="none" strike="noStrike">
                <a:solidFill>
                  <a:srgbClr val="2A2A2A"/>
                </a:solidFill>
                <a:latin typeface="Roboto"/>
                <a:ea typeface="Roboto"/>
                <a:cs typeface="Roboto"/>
                <a:sym typeface="Roboto"/>
              </a:rPr>
              <a:t>Átfogó kollégiumi nyilvántartó rendszer, amely automatizálja a hallgatók, szobák és szülők adminisztrációját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E8E4D8"/>
            </a:gs>
            <a:gs pos="100000">
              <a:srgbClr val="F3F1ED"/>
            </a:gs>
          </a:gsLst>
          <a:lin ang="8100000" scaled="0"/>
        </a:gra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4"/>
          <p:cNvSpPr txBox="1"/>
          <p:nvPr/>
        </p:nvSpPr>
        <p:spPr>
          <a:xfrm>
            <a:off x="609584" y="76200"/>
            <a:ext cx="7219769" cy="628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630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31" u="none" cap="none" strike="noStrike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Rendszerarchitektúra és Technológiák</a:t>
            </a:r>
            <a:endParaRPr/>
          </a:p>
        </p:txBody>
      </p:sp>
      <p:pic>
        <p:nvPicPr>
          <p:cNvPr descr="image.png" id="178" name="Google Shape;17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584" y="1317077"/>
            <a:ext cx="342891" cy="242394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4"/>
          <p:cNvSpPr txBox="1"/>
          <p:nvPr/>
        </p:nvSpPr>
        <p:spPr>
          <a:xfrm>
            <a:off x="1066773" y="1209674"/>
            <a:ext cx="118107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631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13" u="none" cap="none" strike="noStrike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Backend</a:t>
            </a:r>
            <a:endParaRPr/>
          </a:p>
        </p:txBody>
      </p:sp>
      <p:sp>
        <p:nvSpPr>
          <p:cNvPr id="180" name="Google Shape;180;p4"/>
          <p:cNvSpPr/>
          <p:nvPr/>
        </p:nvSpPr>
        <p:spPr>
          <a:xfrm>
            <a:off x="609584" y="1857375"/>
            <a:ext cx="5352916" cy="571500"/>
          </a:xfrm>
          <a:prstGeom prst="roundRect">
            <a:avLst>
              <a:gd fmla="val 26666" name="adj"/>
            </a:avLst>
          </a:prstGeom>
          <a:solidFill>
            <a:srgbClr val="D6C096">
              <a:alpha val="25098"/>
            </a:srgbClr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4"/>
          <p:cNvSpPr/>
          <p:nvPr/>
        </p:nvSpPr>
        <p:spPr>
          <a:xfrm rot="-5400000">
            <a:off x="373364" y="2093595"/>
            <a:ext cx="571500" cy="9906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B89F6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82" name="Google Shape;182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6753" y="2070652"/>
            <a:ext cx="266693" cy="144945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4"/>
          <p:cNvSpPr txBox="1"/>
          <p:nvPr/>
        </p:nvSpPr>
        <p:spPr>
          <a:xfrm>
            <a:off x="1285842" y="2009774"/>
            <a:ext cx="1723981" cy="266699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521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96" u="none" cap="none" strike="noStrike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Node.js + Express.js</a:t>
            </a:r>
            <a:endParaRPr/>
          </a:p>
        </p:txBody>
      </p:sp>
      <p:sp>
        <p:nvSpPr>
          <p:cNvPr id="184" name="Google Shape;184;p4"/>
          <p:cNvSpPr/>
          <p:nvPr/>
        </p:nvSpPr>
        <p:spPr>
          <a:xfrm>
            <a:off x="609584" y="2505074"/>
            <a:ext cx="5352916" cy="571500"/>
          </a:xfrm>
          <a:prstGeom prst="roundRect">
            <a:avLst>
              <a:gd fmla="val 26666" name="adj"/>
            </a:avLst>
          </a:prstGeom>
          <a:solidFill>
            <a:srgbClr val="D6C096">
              <a:alpha val="25098"/>
            </a:srgbClr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4"/>
          <p:cNvSpPr/>
          <p:nvPr/>
        </p:nvSpPr>
        <p:spPr>
          <a:xfrm rot="-5400000">
            <a:off x="373364" y="2741294"/>
            <a:ext cx="571500" cy="9906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B89F6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86" name="Google Shape;186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6753" y="2695160"/>
            <a:ext cx="266693" cy="191328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4"/>
          <p:cNvSpPr txBox="1"/>
          <p:nvPr/>
        </p:nvSpPr>
        <p:spPr>
          <a:xfrm>
            <a:off x="1285842" y="2657475"/>
            <a:ext cx="2057348" cy="266699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521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96" u="none" cap="none" strike="noStrike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SQLite + Sequelize ORM</a:t>
            </a:r>
            <a:endParaRPr/>
          </a:p>
        </p:txBody>
      </p:sp>
      <p:sp>
        <p:nvSpPr>
          <p:cNvPr id="188" name="Google Shape;188;p4"/>
          <p:cNvSpPr/>
          <p:nvPr/>
        </p:nvSpPr>
        <p:spPr>
          <a:xfrm>
            <a:off x="609584" y="3152775"/>
            <a:ext cx="5352916" cy="571500"/>
          </a:xfrm>
          <a:prstGeom prst="roundRect">
            <a:avLst>
              <a:gd fmla="val 26666" name="adj"/>
            </a:avLst>
          </a:prstGeom>
          <a:solidFill>
            <a:srgbClr val="D6C096">
              <a:alpha val="25098"/>
            </a:srgbClr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4"/>
          <p:cNvSpPr/>
          <p:nvPr/>
        </p:nvSpPr>
        <p:spPr>
          <a:xfrm rot="-5400000">
            <a:off x="373364" y="3388995"/>
            <a:ext cx="571500" cy="9906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B89F6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90" name="Google Shape;190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6753" y="3313871"/>
            <a:ext cx="266693" cy="249306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4"/>
          <p:cNvSpPr txBox="1"/>
          <p:nvPr/>
        </p:nvSpPr>
        <p:spPr>
          <a:xfrm>
            <a:off x="1285842" y="3305174"/>
            <a:ext cx="1342991" cy="266699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521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96" u="none" cap="none" strike="noStrike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JWT Hitelesítés</a:t>
            </a:r>
            <a:endParaRPr/>
          </a:p>
        </p:txBody>
      </p:sp>
      <p:sp>
        <p:nvSpPr>
          <p:cNvPr id="192" name="Google Shape;192;p4"/>
          <p:cNvSpPr/>
          <p:nvPr/>
        </p:nvSpPr>
        <p:spPr>
          <a:xfrm>
            <a:off x="609584" y="3800475"/>
            <a:ext cx="5352916" cy="571500"/>
          </a:xfrm>
          <a:prstGeom prst="roundRect">
            <a:avLst>
              <a:gd fmla="val 26666" name="adj"/>
            </a:avLst>
          </a:prstGeom>
          <a:solidFill>
            <a:srgbClr val="D6C096">
              <a:alpha val="25098"/>
            </a:srgbClr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4"/>
          <p:cNvSpPr/>
          <p:nvPr/>
        </p:nvSpPr>
        <p:spPr>
          <a:xfrm rot="-5400000">
            <a:off x="373364" y="4036695"/>
            <a:ext cx="571500" cy="9906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B89F6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94" name="Google Shape;194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53" y="3967369"/>
            <a:ext cx="266693" cy="23771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4"/>
          <p:cNvSpPr txBox="1"/>
          <p:nvPr/>
        </p:nvSpPr>
        <p:spPr>
          <a:xfrm>
            <a:off x="1285842" y="3952874"/>
            <a:ext cx="1476338" cy="266699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521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96" u="none" cap="none" strike="noStrike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Express-validator</a:t>
            </a:r>
            <a:endParaRPr/>
          </a:p>
        </p:txBody>
      </p:sp>
      <p:pic>
        <p:nvPicPr>
          <p:cNvPr descr="image.png" id="196" name="Google Shape;196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229194" y="1317077"/>
            <a:ext cx="342891" cy="242394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4"/>
          <p:cNvSpPr txBox="1"/>
          <p:nvPr/>
        </p:nvSpPr>
        <p:spPr>
          <a:xfrm>
            <a:off x="6686382" y="1209674"/>
            <a:ext cx="1219169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631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13" u="none" cap="none" strike="noStrike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Frontend</a:t>
            </a:r>
            <a:endParaRPr/>
          </a:p>
        </p:txBody>
      </p:sp>
      <p:sp>
        <p:nvSpPr>
          <p:cNvPr id="198" name="Google Shape;198;p4"/>
          <p:cNvSpPr/>
          <p:nvPr/>
        </p:nvSpPr>
        <p:spPr>
          <a:xfrm>
            <a:off x="6229194" y="1857375"/>
            <a:ext cx="5352916" cy="571500"/>
          </a:xfrm>
          <a:prstGeom prst="roundRect">
            <a:avLst>
              <a:gd fmla="val 26666" name="adj"/>
            </a:avLst>
          </a:prstGeom>
          <a:solidFill>
            <a:srgbClr val="D6C096">
              <a:alpha val="25098"/>
            </a:srgbClr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4"/>
          <p:cNvSpPr/>
          <p:nvPr/>
        </p:nvSpPr>
        <p:spPr>
          <a:xfrm rot="-5400000">
            <a:off x="5992974" y="2093595"/>
            <a:ext cx="571500" cy="9906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B89F6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00" name="Google Shape;200;p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486362" y="2059056"/>
            <a:ext cx="266693" cy="168136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4"/>
          <p:cNvSpPr txBox="1"/>
          <p:nvPr/>
        </p:nvSpPr>
        <p:spPr>
          <a:xfrm>
            <a:off x="6905452" y="2009774"/>
            <a:ext cx="2295467" cy="266699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521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96" u="none" cap="none" strike="noStrike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Vue.js 3 (Composition API)</a:t>
            </a:r>
            <a:endParaRPr/>
          </a:p>
        </p:txBody>
      </p:sp>
      <p:sp>
        <p:nvSpPr>
          <p:cNvPr id="202" name="Google Shape;202;p4"/>
          <p:cNvSpPr/>
          <p:nvPr/>
        </p:nvSpPr>
        <p:spPr>
          <a:xfrm>
            <a:off x="6229194" y="2505074"/>
            <a:ext cx="5352916" cy="571500"/>
          </a:xfrm>
          <a:prstGeom prst="roundRect">
            <a:avLst>
              <a:gd fmla="val 26666" name="adj"/>
            </a:avLst>
          </a:prstGeom>
          <a:solidFill>
            <a:srgbClr val="D6C096">
              <a:alpha val="25098"/>
            </a:srgbClr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4"/>
          <p:cNvSpPr/>
          <p:nvPr/>
        </p:nvSpPr>
        <p:spPr>
          <a:xfrm rot="-5400000">
            <a:off x="5992974" y="2741294"/>
            <a:ext cx="571500" cy="9906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B89F6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04" name="Google Shape;204;p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486362" y="2677767"/>
            <a:ext cx="266693" cy="226115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4"/>
          <p:cNvSpPr txBox="1"/>
          <p:nvPr/>
        </p:nvSpPr>
        <p:spPr>
          <a:xfrm>
            <a:off x="6905445" y="2657475"/>
            <a:ext cx="11811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521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96" u="none" cap="none" strike="noStrike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Vite</a:t>
            </a:r>
            <a:endParaRPr/>
          </a:p>
        </p:txBody>
      </p:sp>
      <p:sp>
        <p:nvSpPr>
          <p:cNvPr id="206" name="Google Shape;206;p4"/>
          <p:cNvSpPr/>
          <p:nvPr/>
        </p:nvSpPr>
        <p:spPr>
          <a:xfrm>
            <a:off x="6229194" y="3152775"/>
            <a:ext cx="5352916" cy="571500"/>
          </a:xfrm>
          <a:prstGeom prst="roundRect">
            <a:avLst>
              <a:gd fmla="val 26666" name="adj"/>
            </a:avLst>
          </a:prstGeom>
          <a:solidFill>
            <a:srgbClr val="D6C096">
              <a:alpha val="25098"/>
            </a:srgbClr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4"/>
          <p:cNvSpPr/>
          <p:nvPr/>
        </p:nvSpPr>
        <p:spPr>
          <a:xfrm rot="-5400000">
            <a:off x="5992974" y="3388995"/>
            <a:ext cx="571500" cy="9906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B89F6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08" name="Google Shape;208;p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486362" y="3334164"/>
            <a:ext cx="266693" cy="208721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4"/>
          <p:cNvSpPr txBox="1"/>
          <p:nvPr/>
        </p:nvSpPr>
        <p:spPr>
          <a:xfrm>
            <a:off x="6905452" y="3305174"/>
            <a:ext cx="2228794" cy="266699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521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96" u="none" cap="none" strike="noStrike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Pinia (State Management)</a:t>
            </a:r>
            <a:endParaRPr/>
          </a:p>
        </p:txBody>
      </p:sp>
      <p:sp>
        <p:nvSpPr>
          <p:cNvPr id="210" name="Google Shape;210;p4"/>
          <p:cNvSpPr/>
          <p:nvPr/>
        </p:nvSpPr>
        <p:spPr>
          <a:xfrm>
            <a:off x="6229194" y="3800475"/>
            <a:ext cx="5352916" cy="571500"/>
          </a:xfrm>
          <a:prstGeom prst="roundRect">
            <a:avLst>
              <a:gd fmla="val 26666" name="adj"/>
            </a:avLst>
          </a:prstGeom>
          <a:solidFill>
            <a:srgbClr val="D6C096">
              <a:alpha val="25098"/>
            </a:srgbClr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4"/>
          <p:cNvSpPr/>
          <p:nvPr/>
        </p:nvSpPr>
        <p:spPr>
          <a:xfrm rot="-5400000">
            <a:off x="5992974" y="4036695"/>
            <a:ext cx="571500" cy="9906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B89F6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12" name="Google Shape;212;p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486362" y="3973167"/>
            <a:ext cx="266693" cy="226115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4"/>
          <p:cNvSpPr txBox="1"/>
          <p:nvPr/>
        </p:nvSpPr>
        <p:spPr>
          <a:xfrm>
            <a:off x="6905452" y="3952874"/>
            <a:ext cx="990575" cy="266699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521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96" u="none" cap="none" strike="noStrike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Bootstrap 5</a:t>
            </a:r>
            <a:endParaRPr/>
          </a:p>
        </p:txBody>
      </p:sp>
      <p:sp>
        <p:nvSpPr>
          <p:cNvPr id="214" name="Google Shape;214;p4"/>
          <p:cNvSpPr/>
          <p:nvPr/>
        </p:nvSpPr>
        <p:spPr>
          <a:xfrm>
            <a:off x="609584" y="4772025"/>
            <a:ext cx="10972525" cy="1819275"/>
          </a:xfrm>
          <a:prstGeom prst="roundRect">
            <a:avLst>
              <a:gd fmla="val 8376" name="adj"/>
            </a:avLst>
          </a:prstGeom>
          <a:solidFill>
            <a:srgbClr val="D6C09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4"/>
          <p:cNvSpPr/>
          <p:nvPr/>
        </p:nvSpPr>
        <p:spPr>
          <a:xfrm rot="-5400000">
            <a:off x="-250523" y="5632132"/>
            <a:ext cx="1819275" cy="9906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B89F6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16" name="Google Shape;216;p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942951" y="5014546"/>
            <a:ext cx="304792" cy="257907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4"/>
          <p:cNvSpPr txBox="1"/>
          <p:nvPr/>
        </p:nvSpPr>
        <p:spPr>
          <a:xfrm>
            <a:off x="1362040" y="4962525"/>
            <a:ext cx="1609684" cy="37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6312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4" u="none" cap="none" strike="noStrike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Nyelv Eloszlás</a:t>
            </a:r>
            <a:endParaRPr/>
          </a:p>
        </p:txBody>
      </p:sp>
      <p:sp>
        <p:nvSpPr>
          <p:cNvPr id="218" name="Google Shape;218;p4"/>
          <p:cNvSpPr txBox="1"/>
          <p:nvPr/>
        </p:nvSpPr>
        <p:spPr>
          <a:xfrm>
            <a:off x="942951" y="5486400"/>
            <a:ext cx="2466900" cy="47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ctr">
              <a:lnSpc>
                <a:spcPct val="1630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92" u="none" cap="none" strike="noStrike">
                <a:solidFill>
                  <a:srgbClr val="1A1A1A"/>
                </a:solidFill>
                <a:latin typeface="Roboto Mono"/>
                <a:ea typeface="Roboto Mono"/>
                <a:cs typeface="Roboto Mono"/>
                <a:sym typeface="Roboto Mono"/>
              </a:rPr>
              <a:t>4</a:t>
            </a:r>
            <a:r>
              <a:rPr b="1" lang="en-US" sz="2392">
                <a:solidFill>
                  <a:srgbClr val="1A1A1A"/>
                </a:solidFill>
                <a:latin typeface="Roboto Mono"/>
                <a:ea typeface="Roboto Mono"/>
                <a:cs typeface="Roboto Mono"/>
                <a:sym typeface="Roboto Mono"/>
              </a:rPr>
              <a:t>4</a:t>
            </a:r>
            <a:r>
              <a:rPr b="1" i="0" lang="en-US" sz="2392" u="none" cap="none" strike="noStrike">
                <a:solidFill>
                  <a:srgbClr val="1A1A1A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b="1" lang="en-US" sz="2392">
                <a:solidFill>
                  <a:srgbClr val="1A1A1A"/>
                </a:solidFill>
                <a:latin typeface="Roboto Mono"/>
                <a:ea typeface="Roboto Mono"/>
                <a:cs typeface="Roboto Mono"/>
                <a:sym typeface="Roboto Mono"/>
              </a:rPr>
              <a:t>9</a:t>
            </a:r>
            <a:r>
              <a:rPr b="1" i="0" lang="en-US" sz="2392" u="none" cap="none" strike="noStrike">
                <a:solidFill>
                  <a:srgbClr val="1A1A1A"/>
                </a:solidFill>
                <a:latin typeface="Roboto Mono"/>
                <a:ea typeface="Roboto Mono"/>
                <a:cs typeface="Roboto Mono"/>
                <a:sym typeface="Roboto Mono"/>
              </a:rPr>
              <a:t>%</a:t>
            </a:r>
            <a:endParaRPr/>
          </a:p>
        </p:txBody>
      </p:sp>
      <p:sp>
        <p:nvSpPr>
          <p:cNvPr id="219" name="Google Shape;219;p4"/>
          <p:cNvSpPr txBox="1"/>
          <p:nvPr/>
        </p:nvSpPr>
        <p:spPr>
          <a:xfrm>
            <a:off x="942951" y="6134100"/>
            <a:ext cx="2466913" cy="266699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ctr">
              <a:lnSpc>
                <a:spcPct val="1691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76" u="none" cap="none" strike="noStrike">
                <a:solidFill>
                  <a:srgbClr val="2A2A2A"/>
                </a:solidFill>
                <a:latin typeface="Roboto"/>
                <a:ea typeface="Roboto"/>
                <a:cs typeface="Roboto"/>
                <a:sym typeface="Roboto"/>
              </a:rPr>
              <a:t>Vue</a:t>
            </a:r>
            <a:endParaRPr/>
          </a:p>
        </p:txBody>
      </p:sp>
      <p:sp>
        <p:nvSpPr>
          <p:cNvPr id="220" name="Google Shape;220;p4"/>
          <p:cNvSpPr txBox="1"/>
          <p:nvPr/>
        </p:nvSpPr>
        <p:spPr>
          <a:xfrm>
            <a:off x="3562260" y="5486400"/>
            <a:ext cx="2466900" cy="47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ctr">
              <a:lnSpc>
                <a:spcPct val="1630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92" u="none" cap="none" strike="noStrike">
                <a:solidFill>
                  <a:srgbClr val="1A1A1A"/>
                </a:solidFill>
                <a:latin typeface="Roboto Mono"/>
                <a:ea typeface="Roboto Mono"/>
                <a:cs typeface="Roboto Mono"/>
                <a:sym typeface="Roboto Mono"/>
              </a:rPr>
              <a:t>4</a:t>
            </a:r>
            <a:r>
              <a:rPr b="1" lang="en-US" sz="2392">
                <a:solidFill>
                  <a:srgbClr val="1A1A1A"/>
                </a:solidFill>
                <a:latin typeface="Roboto Mono"/>
                <a:ea typeface="Roboto Mono"/>
                <a:cs typeface="Roboto Mono"/>
                <a:sym typeface="Roboto Mono"/>
              </a:rPr>
              <a:t>8.3</a:t>
            </a:r>
            <a:r>
              <a:rPr b="1" i="0" lang="en-US" sz="2392" u="none" cap="none" strike="noStrike">
                <a:solidFill>
                  <a:srgbClr val="1A1A1A"/>
                </a:solidFill>
                <a:latin typeface="Roboto Mono"/>
                <a:ea typeface="Roboto Mono"/>
                <a:cs typeface="Roboto Mono"/>
                <a:sym typeface="Roboto Mono"/>
              </a:rPr>
              <a:t>%</a:t>
            </a:r>
            <a:endParaRPr/>
          </a:p>
        </p:txBody>
      </p:sp>
      <p:sp>
        <p:nvSpPr>
          <p:cNvPr id="221" name="Google Shape;221;p4"/>
          <p:cNvSpPr txBox="1"/>
          <p:nvPr/>
        </p:nvSpPr>
        <p:spPr>
          <a:xfrm>
            <a:off x="3562260" y="6134100"/>
            <a:ext cx="2466913" cy="266699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ctr">
              <a:lnSpc>
                <a:spcPct val="1691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76" u="none" cap="none" strike="noStrike">
                <a:solidFill>
                  <a:srgbClr val="2A2A2A"/>
                </a:solidFill>
                <a:latin typeface="Roboto"/>
                <a:ea typeface="Roboto"/>
                <a:cs typeface="Roboto"/>
                <a:sym typeface="Roboto"/>
              </a:rPr>
              <a:t>JavaScript</a:t>
            </a:r>
            <a:endParaRPr/>
          </a:p>
        </p:txBody>
      </p:sp>
      <p:sp>
        <p:nvSpPr>
          <p:cNvPr id="222" name="Google Shape;222;p4"/>
          <p:cNvSpPr txBox="1"/>
          <p:nvPr/>
        </p:nvSpPr>
        <p:spPr>
          <a:xfrm>
            <a:off x="6191095" y="5486400"/>
            <a:ext cx="2466900" cy="47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ctr">
              <a:lnSpc>
                <a:spcPct val="1630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92">
                <a:solidFill>
                  <a:srgbClr val="1A1A1A"/>
                </a:solidFill>
                <a:latin typeface="Roboto Mono"/>
                <a:ea typeface="Roboto Mono"/>
                <a:cs typeface="Roboto Mono"/>
                <a:sym typeface="Roboto Mono"/>
              </a:rPr>
              <a:t>6</a:t>
            </a:r>
            <a:r>
              <a:rPr b="1" i="0" lang="en-US" sz="2392" u="none" cap="none" strike="noStrike">
                <a:solidFill>
                  <a:srgbClr val="1A1A1A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b="1" lang="en-US" sz="2392">
                <a:solidFill>
                  <a:srgbClr val="1A1A1A"/>
                </a:solidFill>
                <a:latin typeface="Roboto Mono"/>
                <a:ea typeface="Roboto Mono"/>
                <a:cs typeface="Roboto Mono"/>
                <a:sym typeface="Roboto Mono"/>
              </a:rPr>
              <a:t>7</a:t>
            </a:r>
            <a:r>
              <a:rPr b="1" i="0" lang="en-US" sz="2392" u="none" cap="none" strike="noStrike">
                <a:solidFill>
                  <a:srgbClr val="1A1A1A"/>
                </a:solidFill>
                <a:latin typeface="Roboto Mono"/>
                <a:ea typeface="Roboto Mono"/>
                <a:cs typeface="Roboto Mono"/>
                <a:sym typeface="Roboto Mono"/>
              </a:rPr>
              <a:t>%</a:t>
            </a:r>
            <a:endParaRPr/>
          </a:p>
        </p:txBody>
      </p:sp>
      <p:sp>
        <p:nvSpPr>
          <p:cNvPr id="223" name="Google Shape;223;p4"/>
          <p:cNvSpPr txBox="1"/>
          <p:nvPr/>
        </p:nvSpPr>
        <p:spPr>
          <a:xfrm>
            <a:off x="6191095" y="6134100"/>
            <a:ext cx="2466913" cy="266699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ctr">
              <a:lnSpc>
                <a:spcPct val="1691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76" u="none" cap="none" strike="noStrike">
                <a:solidFill>
                  <a:srgbClr val="2A2A2A"/>
                </a:solidFill>
                <a:latin typeface="Roboto"/>
                <a:ea typeface="Roboto"/>
                <a:cs typeface="Roboto"/>
                <a:sym typeface="Roboto"/>
              </a:rPr>
              <a:t>CSS</a:t>
            </a:r>
            <a:endParaRPr/>
          </a:p>
        </p:txBody>
      </p:sp>
      <p:sp>
        <p:nvSpPr>
          <p:cNvPr id="224" name="Google Shape;224;p4"/>
          <p:cNvSpPr txBox="1"/>
          <p:nvPr/>
        </p:nvSpPr>
        <p:spPr>
          <a:xfrm>
            <a:off x="8810404" y="5486400"/>
            <a:ext cx="2466913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ctr">
              <a:lnSpc>
                <a:spcPct val="1630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92" u="none" cap="none" strike="noStrike">
                <a:solidFill>
                  <a:srgbClr val="1A1A1A"/>
                </a:solidFill>
                <a:latin typeface="Roboto Mono"/>
                <a:ea typeface="Roboto Mono"/>
                <a:cs typeface="Roboto Mono"/>
                <a:sym typeface="Roboto Mono"/>
              </a:rPr>
              <a:t>0.1%</a:t>
            </a:r>
            <a:endParaRPr/>
          </a:p>
        </p:txBody>
      </p:sp>
      <p:sp>
        <p:nvSpPr>
          <p:cNvPr id="225" name="Google Shape;225;p4"/>
          <p:cNvSpPr txBox="1"/>
          <p:nvPr/>
        </p:nvSpPr>
        <p:spPr>
          <a:xfrm>
            <a:off x="8810404" y="6134100"/>
            <a:ext cx="2466913" cy="266699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ctr">
              <a:lnSpc>
                <a:spcPct val="1691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76" u="none" cap="none" strike="noStrike">
                <a:solidFill>
                  <a:srgbClr val="2A2A2A"/>
                </a:solidFill>
                <a:latin typeface="Roboto"/>
                <a:ea typeface="Roboto"/>
                <a:cs typeface="Roboto"/>
                <a:sym typeface="Roboto"/>
              </a:rPr>
              <a:t>HTML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E8E4D8"/>
            </a:gs>
            <a:gs pos="100000">
              <a:srgbClr val="F3F1ED"/>
            </a:gs>
          </a:gsLst>
          <a:lin ang="8100000" scaled="0"/>
        </a:gra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5"/>
          <p:cNvSpPr txBox="1"/>
          <p:nvPr/>
        </p:nvSpPr>
        <p:spPr>
          <a:xfrm>
            <a:off x="609584" y="76200"/>
            <a:ext cx="6734006" cy="628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630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31" u="none" cap="none" strike="noStrike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Adatbázis Rendszer és Kapcsolatok</a:t>
            </a:r>
            <a:endParaRPr/>
          </a:p>
        </p:txBody>
      </p:sp>
      <p:pic>
        <p:nvPicPr>
          <p:cNvPr descr="image.png" id="231" name="Google Shape;23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584" y="1440902"/>
            <a:ext cx="342891" cy="242394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5"/>
          <p:cNvSpPr txBox="1"/>
          <p:nvPr/>
        </p:nvSpPr>
        <p:spPr>
          <a:xfrm>
            <a:off x="1066773" y="1333500"/>
            <a:ext cx="137156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631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13" u="none" cap="none" strike="noStrike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Adatbázis</a:t>
            </a:r>
            <a:endParaRPr/>
          </a:p>
        </p:txBody>
      </p:sp>
      <p:sp>
        <p:nvSpPr>
          <p:cNvPr id="233" name="Google Shape;233;p5"/>
          <p:cNvSpPr/>
          <p:nvPr/>
        </p:nvSpPr>
        <p:spPr>
          <a:xfrm>
            <a:off x="609584" y="1981199"/>
            <a:ext cx="5333866" cy="571500"/>
          </a:xfrm>
          <a:prstGeom prst="roundRect">
            <a:avLst>
              <a:gd fmla="val 26666" name="adj"/>
            </a:avLst>
          </a:prstGeom>
          <a:solidFill>
            <a:srgbClr val="D6C09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5"/>
          <p:cNvSpPr/>
          <p:nvPr/>
        </p:nvSpPr>
        <p:spPr>
          <a:xfrm rot="-5400000">
            <a:off x="373364" y="2217419"/>
            <a:ext cx="571500" cy="9906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B89F6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5"/>
          <p:cNvSpPr txBox="1"/>
          <p:nvPr/>
        </p:nvSpPr>
        <p:spPr>
          <a:xfrm>
            <a:off x="866753" y="2133599"/>
            <a:ext cx="4848103" cy="266699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521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96" u="none" cap="none" strike="noStrike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SQLite + Sequelize ORM</a:t>
            </a:r>
            <a:endParaRPr/>
          </a:p>
        </p:txBody>
      </p:sp>
      <p:pic>
        <p:nvPicPr>
          <p:cNvPr descr="image.png" id="236" name="Google Shape;236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584" y="2825261"/>
            <a:ext cx="304792" cy="216876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5"/>
          <p:cNvSpPr txBox="1"/>
          <p:nvPr/>
        </p:nvSpPr>
        <p:spPr>
          <a:xfrm>
            <a:off x="1028674" y="2743200"/>
            <a:ext cx="1381090" cy="37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6312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4" u="none" cap="none" strike="noStrike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Fő Entitások</a:t>
            </a:r>
            <a:endParaRPr/>
          </a:p>
        </p:txBody>
      </p:sp>
      <p:sp>
        <p:nvSpPr>
          <p:cNvPr id="238" name="Google Shape;238;p5"/>
          <p:cNvSpPr/>
          <p:nvPr/>
        </p:nvSpPr>
        <p:spPr>
          <a:xfrm>
            <a:off x="609584" y="3267075"/>
            <a:ext cx="5333866" cy="723900"/>
          </a:xfrm>
          <a:prstGeom prst="roundRect">
            <a:avLst>
              <a:gd fmla="val 21052" name="adj"/>
            </a:avLst>
          </a:prstGeom>
          <a:solidFill>
            <a:srgbClr val="D6C096">
              <a:alpha val="25098"/>
            </a:srgbClr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5"/>
          <p:cNvSpPr/>
          <p:nvPr/>
        </p:nvSpPr>
        <p:spPr>
          <a:xfrm rot="-5400000">
            <a:off x="297164" y="3579495"/>
            <a:ext cx="723900" cy="9906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B89F6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40" name="Google Shape;240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6753" y="3539755"/>
            <a:ext cx="247643" cy="178538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5"/>
          <p:cNvSpPr txBox="1"/>
          <p:nvPr/>
        </p:nvSpPr>
        <p:spPr>
          <a:xfrm>
            <a:off x="1266793" y="3381375"/>
            <a:ext cx="533386" cy="266699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691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76" u="none" cap="none" strike="noStrike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Diák</a:t>
            </a:r>
            <a:endParaRPr/>
          </a:p>
        </p:txBody>
      </p:sp>
      <p:sp>
        <p:nvSpPr>
          <p:cNvPr id="242" name="Google Shape;242;p5"/>
          <p:cNvSpPr txBox="1"/>
          <p:nvPr/>
        </p:nvSpPr>
        <p:spPr>
          <a:xfrm>
            <a:off x="1266809" y="3648075"/>
            <a:ext cx="1171500" cy="2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631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6" u="none" cap="none" strike="noStrike">
                <a:solidFill>
                  <a:srgbClr val="4A4A4A"/>
                </a:solidFill>
                <a:latin typeface="Roboto"/>
                <a:ea typeface="Roboto"/>
                <a:cs typeface="Roboto"/>
                <a:sym typeface="Roboto"/>
              </a:rPr>
              <a:t>Student</a:t>
            </a:r>
            <a:endParaRPr/>
          </a:p>
        </p:txBody>
      </p:sp>
      <p:sp>
        <p:nvSpPr>
          <p:cNvPr id="243" name="Google Shape;243;p5"/>
          <p:cNvSpPr/>
          <p:nvPr/>
        </p:nvSpPr>
        <p:spPr>
          <a:xfrm>
            <a:off x="609584" y="4048124"/>
            <a:ext cx="5333866" cy="723900"/>
          </a:xfrm>
          <a:prstGeom prst="roundRect">
            <a:avLst>
              <a:gd fmla="val 21052" name="adj"/>
            </a:avLst>
          </a:prstGeom>
          <a:solidFill>
            <a:srgbClr val="D6C096">
              <a:alpha val="25098"/>
            </a:srgbClr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5"/>
          <p:cNvSpPr/>
          <p:nvPr/>
        </p:nvSpPr>
        <p:spPr>
          <a:xfrm rot="-5400000">
            <a:off x="297164" y="4360544"/>
            <a:ext cx="723900" cy="9906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B89F6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45" name="Google Shape;245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6753" y="4312166"/>
            <a:ext cx="247643" cy="195816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5"/>
          <p:cNvSpPr txBox="1"/>
          <p:nvPr/>
        </p:nvSpPr>
        <p:spPr>
          <a:xfrm>
            <a:off x="1266814" y="4162425"/>
            <a:ext cx="1453800" cy="27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691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76" u="none" cap="none" strike="noStrike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Szoba</a:t>
            </a:r>
            <a:endParaRPr/>
          </a:p>
        </p:txBody>
      </p:sp>
      <p:sp>
        <p:nvSpPr>
          <p:cNvPr id="247" name="Google Shape;247;p5"/>
          <p:cNvSpPr txBox="1"/>
          <p:nvPr/>
        </p:nvSpPr>
        <p:spPr>
          <a:xfrm>
            <a:off x="1266793" y="4429125"/>
            <a:ext cx="47623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631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6" u="none" cap="none" strike="noStrike">
                <a:solidFill>
                  <a:srgbClr val="4A4A4A"/>
                </a:solidFill>
                <a:latin typeface="Roboto"/>
                <a:ea typeface="Roboto"/>
                <a:cs typeface="Roboto"/>
                <a:sym typeface="Roboto"/>
              </a:rPr>
              <a:t>Room</a:t>
            </a:r>
            <a:endParaRPr/>
          </a:p>
        </p:txBody>
      </p:sp>
      <p:sp>
        <p:nvSpPr>
          <p:cNvPr id="248" name="Google Shape;248;p5"/>
          <p:cNvSpPr/>
          <p:nvPr/>
        </p:nvSpPr>
        <p:spPr>
          <a:xfrm>
            <a:off x="609584" y="4829175"/>
            <a:ext cx="5333866" cy="723900"/>
          </a:xfrm>
          <a:prstGeom prst="roundRect">
            <a:avLst>
              <a:gd fmla="val 21052" name="adj"/>
            </a:avLst>
          </a:prstGeom>
          <a:solidFill>
            <a:srgbClr val="D6C096">
              <a:alpha val="25098"/>
            </a:srgbClr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5"/>
          <p:cNvSpPr/>
          <p:nvPr/>
        </p:nvSpPr>
        <p:spPr>
          <a:xfrm rot="-5400000">
            <a:off x="297164" y="5141595"/>
            <a:ext cx="723900" cy="9906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B89F6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50" name="Google Shape;250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53" y="5084577"/>
            <a:ext cx="247643" cy="213094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5"/>
          <p:cNvSpPr txBox="1"/>
          <p:nvPr/>
        </p:nvSpPr>
        <p:spPr>
          <a:xfrm>
            <a:off x="1266809" y="4943475"/>
            <a:ext cx="1029600" cy="27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691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76" u="none" cap="none" strike="noStrike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Szülő</a:t>
            </a:r>
            <a:endParaRPr/>
          </a:p>
        </p:txBody>
      </p:sp>
      <p:sp>
        <p:nvSpPr>
          <p:cNvPr id="252" name="Google Shape;252;p5"/>
          <p:cNvSpPr txBox="1"/>
          <p:nvPr/>
        </p:nvSpPr>
        <p:spPr>
          <a:xfrm>
            <a:off x="1266810" y="5210175"/>
            <a:ext cx="1143000" cy="2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631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6" u="none" cap="none" strike="noStrike">
                <a:solidFill>
                  <a:srgbClr val="4A4A4A"/>
                </a:solidFill>
                <a:latin typeface="Roboto"/>
                <a:ea typeface="Roboto"/>
                <a:cs typeface="Roboto"/>
                <a:sym typeface="Roboto"/>
              </a:rPr>
              <a:t>Parent</a:t>
            </a:r>
            <a:endParaRPr/>
          </a:p>
        </p:txBody>
      </p:sp>
      <p:sp>
        <p:nvSpPr>
          <p:cNvPr id="253" name="Google Shape;253;p5"/>
          <p:cNvSpPr/>
          <p:nvPr/>
        </p:nvSpPr>
        <p:spPr>
          <a:xfrm>
            <a:off x="609584" y="5610224"/>
            <a:ext cx="5333866" cy="723900"/>
          </a:xfrm>
          <a:prstGeom prst="roundRect">
            <a:avLst>
              <a:gd fmla="val 21052" name="adj"/>
            </a:avLst>
          </a:prstGeom>
          <a:solidFill>
            <a:srgbClr val="D6C096">
              <a:alpha val="25098"/>
            </a:srgbClr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5"/>
          <p:cNvSpPr/>
          <p:nvPr/>
        </p:nvSpPr>
        <p:spPr>
          <a:xfrm rot="-5400000">
            <a:off x="297164" y="5922644"/>
            <a:ext cx="723900" cy="9906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B89F6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55" name="Google Shape;255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66753" y="5865627"/>
            <a:ext cx="247643" cy="213094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5"/>
          <p:cNvSpPr txBox="1"/>
          <p:nvPr/>
        </p:nvSpPr>
        <p:spPr>
          <a:xfrm>
            <a:off x="1266812" y="5724525"/>
            <a:ext cx="1536300" cy="27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691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76" u="none" cap="none" strike="noStrike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Lakcím</a:t>
            </a:r>
            <a:endParaRPr/>
          </a:p>
        </p:txBody>
      </p:sp>
      <p:sp>
        <p:nvSpPr>
          <p:cNvPr id="257" name="Google Shape;257;p5"/>
          <p:cNvSpPr txBox="1"/>
          <p:nvPr/>
        </p:nvSpPr>
        <p:spPr>
          <a:xfrm>
            <a:off x="1266807" y="5991225"/>
            <a:ext cx="1091700" cy="2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631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6" u="none" cap="none" strike="noStrike">
                <a:solidFill>
                  <a:srgbClr val="4A4A4A"/>
                </a:solidFill>
                <a:latin typeface="Roboto"/>
                <a:ea typeface="Roboto"/>
                <a:cs typeface="Roboto"/>
                <a:sym typeface="Roboto"/>
              </a:rPr>
              <a:t>Address</a:t>
            </a:r>
            <a:endParaRPr/>
          </a:p>
        </p:txBody>
      </p:sp>
      <p:pic>
        <p:nvPicPr>
          <p:cNvPr descr="image.png" id="258" name="Google Shape;258;p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248243" y="1402474"/>
            <a:ext cx="342891" cy="319251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5"/>
          <p:cNvSpPr txBox="1"/>
          <p:nvPr/>
        </p:nvSpPr>
        <p:spPr>
          <a:xfrm>
            <a:off x="6705432" y="1333500"/>
            <a:ext cx="2047823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631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13" u="none" cap="none" strike="noStrike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API Végpontok</a:t>
            </a:r>
            <a:endParaRPr/>
          </a:p>
        </p:txBody>
      </p:sp>
      <p:sp>
        <p:nvSpPr>
          <p:cNvPr id="260" name="Google Shape;260;p5"/>
          <p:cNvSpPr/>
          <p:nvPr/>
        </p:nvSpPr>
        <p:spPr>
          <a:xfrm>
            <a:off x="6248243" y="1981199"/>
            <a:ext cx="5333866" cy="800100"/>
          </a:xfrm>
          <a:prstGeom prst="roundRect">
            <a:avLst>
              <a:gd fmla="val 19047" name="adj"/>
            </a:avLst>
          </a:prstGeom>
          <a:solidFill>
            <a:srgbClr val="D6C096">
              <a:alpha val="25098"/>
            </a:srgbClr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5"/>
          <p:cNvSpPr/>
          <p:nvPr/>
        </p:nvSpPr>
        <p:spPr>
          <a:xfrm rot="-5400000">
            <a:off x="5897723" y="2331719"/>
            <a:ext cx="800100" cy="9906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B89F6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5"/>
          <p:cNvSpPr txBox="1"/>
          <p:nvPr/>
        </p:nvSpPr>
        <p:spPr>
          <a:xfrm>
            <a:off x="6505412" y="2095499"/>
            <a:ext cx="4848103" cy="266699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691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76" u="none" cap="none" strike="noStrike">
                <a:solidFill>
                  <a:srgbClr val="B89F6E"/>
                </a:solidFill>
                <a:latin typeface="Roboto Mono"/>
                <a:ea typeface="Roboto Mono"/>
                <a:cs typeface="Roboto Mono"/>
                <a:sym typeface="Roboto Mono"/>
              </a:rPr>
              <a:t>/api/auth</a:t>
            </a:r>
            <a:endParaRPr/>
          </a:p>
        </p:txBody>
      </p:sp>
      <p:sp>
        <p:nvSpPr>
          <p:cNvPr id="263" name="Google Shape;263;p5"/>
          <p:cNvSpPr txBox="1"/>
          <p:nvPr/>
        </p:nvSpPr>
        <p:spPr>
          <a:xfrm>
            <a:off x="6505412" y="2400300"/>
            <a:ext cx="4848103" cy="266699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691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76" u="none" cap="none" strike="noStrike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Bejelentkezés, kijelentkezés</a:t>
            </a:r>
            <a:endParaRPr/>
          </a:p>
        </p:txBody>
      </p:sp>
      <p:sp>
        <p:nvSpPr>
          <p:cNvPr id="264" name="Google Shape;264;p5"/>
          <p:cNvSpPr/>
          <p:nvPr/>
        </p:nvSpPr>
        <p:spPr>
          <a:xfrm>
            <a:off x="6248243" y="2838450"/>
            <a:ext cx="5333866" cy="800100"/>
          </a:xfrm>
          <a:prstGeom prst="roundRect">
            <a:avLst>
              <a:gd fmla="val 19047" name="adj"/>
            </a:avLst>
          </a:prstGeom>
          <a:solidFill>
            <a:srgbClr val="D6C096">
              <a:alpha val="25098"/>
            </a:srgbClr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5"/>
          <p:cNvSpPr/>
          <p:nvPr/>
        </p:nvSpPr>
        <p:spPr>
          <a:xfrm rot="-5400000">
            <a:off x="5897723" y="3188970"/>
            <a:ext cx="800100" cy="9906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B89F6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5"/>
          <p:cNvSpPr txBox="1"/>
          <p:nvPr/>
        </p:nvSpPr>
        <p:spPr>
          <a:xfrm>
            <a:off x="6505412" y="2952750"/>
            <a:ext cx="4848103" cy="266699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691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76" u="none" cap="none" strike="noStrike">
                <a:solidFill>
                  <a:srgbClr val="B89F6E"/>
                </a:solidFill>
                <a:latin typeface="Roboto Mono"/>
                <a:ea typeface="Roboto Mono"/>
                <a:cs typeface="Roboto Mono"/>
                <a:sym typeface="Roboto Mono"/>
              </a:rPr>
              <a:t>/api/diaks</a:t>
            </a:r>
            <a:endParaRPr/>
          </a:p>
        </p:txBody>
      </p:sp>
      <p:sp>
        <p:nvSpPr>
          <p:cNvPr id="267" name="Google Shape;267;p5"/>
          <p:cNvSpPr txBox="1"/>
          <p:nvPr/>
        </p:nvSpPr>
        <p:spPr>
          <a:xfrm>
            <a:off x="6505412" y="3257550"/>
            <a:ext cx="4848103" cy="266699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691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76" u="none" cap="none" strike="noStrike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Diák CRUD műveletek, beiratkozás</a:t>
            </a:r>
            <a:endParaRPr/>
          </a:p>
        </p:txBody>
      </p:sp>
      <p:sp>
        <p:nvSpPr>
          <p:cNvPr id="268" name="Google Shape;268;p5"/>
          <p:cNvSpPr/>
          <p:nvPr/>
        </p:nvSpPr>
        <p:spPr>
          <a:xfrm>
            <a:off x="6248243" y="3695699"/>
            <a:ext cx="5333866" cy="800100"/>
          </a:xfrm>
          <a:prstGeom prst="roundRect">
            <a:avLst>
              <a:gd fmla="val 19047" name="adj"/>
            </a:avLst>
          </a:prstGeom>
          <a:solidFill>
            <a:srgbClr val="D6C096">
              <a:alpha val="25098"/>
            </a:srgbClr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5"/>
          <p:cNvSpPr/>
          <p:nvPr/>
        </p:nvSpPr>
        <p:spPr>
          <a:xfrm rot="-5400000">
            <a:off x="5897723" y="4046219"/>
            <a:ext cx="800100" cy="9906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B89F6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5"/>
          <p:cNvSpPr txBox="1"/>
          <p:nvPr/>
        </p:nvSpPr>
        <p:spPr>
          <a:xfrm>
            <a:off x="6505412" y="3809999"/>
            <a:ext cx="4848103" cy="266699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691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76" u="none" cap="none" strike="noStrike">
                <a:solidFill>
                  <a:srgbClr val="B89F6E"/>
                </a:solidFill>
                <a:latin typeface="Roboto Mono"/>
                <a:ea typeface="Roboto Mono"/>
                <a:cs typeface="Roboto Mono"/>
                <a:sym typeface="Roboto Mono"/>
              </a:rPr>
              <a:t>/api/szobas</a:t>
            </a:r>
            <a:endParaRPr/>
          </a:p>
        </p:txBody>
      </p:sp>
      <p:sp>
        <p:nvSpPr>
          <p:cNvPr id="271" name="Google Shape;271;p5"/>
          <p:cNvSpPr txBox="1"/>
          <p:nvPr/>
        </p:nvSpPr>
        <p:spPr>
          <a:xfrm>
            <a:off x="6505412" y="4114800"/>
            <a:ext cx="4848103" cy="266699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691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76" u="none" cap="none" strike="noStrike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Szoba kezelés, beköltözés</a:t>
            </a:r>
            <a:endParaRPr/>
          </a:p>
        </p:txBody>
      </p:sp>
      <p:sp>
        <p:nvSpPr>
          <p:cNvPr id="272" name="Google Shape;272;p5"/>
          <p:cNvSpPr/>
          <p:nvPr/>
        </p:nvSpPr>
        <p:spPr>
          <a:xfrm>
            <a:off x="6248243" y="4552949"/>
            <a:ext cx="5333866" cy="800100"/>
          </a:xfrm>
          <a:prstGeom prst="roundRect">
            <a:avLst>
              <a:gd fmla="val 19047" name="adj"/>
            </a:avLst>
          </a:prstGeom>
          <a:solidFill>
            <a:srgbClr val="D6C096">
              <a:alpha val="25098"/>
            </a:srgbClr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5"/>
          <p:cNvSpPr/>
          <p:nvPr/>
        </p:nvSpPr>
        <p:spPr>
          <a:xfrm rot="-5400000">
            <a:off x="5897723" y="4903469"/>
            <a:ext cx="800100" cy="9906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B89F6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5"/>
          <p:cNvSpPr txBox="1"/>
          <p:nvPr/>
        </p:nvSpPr>
        <p:spPr>
          <a:xfrm>
            <a:off x="6505412" y="4667249"/>
            <a:ext cx="4848103" cy="266699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691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76" u="none" cap="none" strike="noStrike">
                <a:solidFill>
                  <a:srgbClr val="B89F6E"/>
                </a:solidFill>
                <a:latin typeface="Roboto Mono"/>
                <a:ea typeface="Roboto Mono"/>
                <a:cs typeface="Roboto Mono"/>
                <a:sym typeface="Roboto Mono"/>
              </a:rPr>
              <a:t>/api/szulos</a:t>
            </a:r>
            <a:endParaRPr/>
          </a:p>
        </p:txBody>
      </p:sp>
      <p:sp>
        <p:nvSpPr>
          <p:cNvPr id="275" name="Google Shape;275;p5"/>
          <p:cNvSpPr txBox="1"/>
          <p:nvPr/>
        </p:nvSpPr>
        <p:spPr>
          <a:xfrm>
            <a:off x="6505412" y="4972050"/>
            <a:ext cx="4848103" cy="266699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691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76" u="none" cap="none" strike="noStrike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Szülő CRUD műveletek</a:t>
            </a:r>
            <a:endParaRPr/>
          </a:p>
        </p:txBody>
      </p:sp>
      <p:sp>
        <p:nvSpPr>
          <p:cNvPr id="276" name="Google Shape;276;p5"/>
          <p:cNvSpPr/>
          <p:nvPr/>
        </p:nvSpPr>
        <p:spPr>
          <a:xfrm>
            <a:off x="6248243" y="5410199"/>
            <a:ext cx="5333866" cy="800100"/>
          </a:xfrm>
          <a:prstGeom prst="roundRect">
            <a:avLst>
              <a:gd fmla="val 19047" name="adj"/>
            </a:avLst>
          </a:prstGeom>
          <a:solidFill>
            <a:srgbClr val="D6C096">
              <a:alpha val="25098"/>
            </a:srgbClr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5"/>
          <p:cNvSpPr/>
          <p:nvPr/>
        </p:nvSpPr>
        <p:spPr>
          <a:xfrm rot="-5400000">
            <a:off x="5897723" y="5760719"/>
            <a:ext cx="800100" cy="9906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B89F6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5"/>
          <p:cNvSpPr txBox="1"/>
          <p:nvPr/>
        </p:nvSpPr>
        <p:spPr>
          <a:xfrm>
            <a:off x="6505412" y="5524499"/>
            <a:ext cx="4848103" cy="266699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691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76" u="none" cap="none" strike="noStrike">
                <a:solidFill>
                  <a:srgbClr val="B89F6E"/>
                </a:solidFill>
                <a:latin typeface="Roboto Mono"/>
                <a:ea typeface="Roboto Mono"/>
                <a:cs typeface="Roboto Mono"/>
                <a:sym typeface="Roboto Mono"/>
              </a:rPr>
              <a:t>/api/lakcims</a:t>
            </a:r>
            <a:endParaRPr/>
          </a:p>
        </p:txBody>
      </p:sp>
      <p:sp>
        <p:nvSpPr>
          <p:cNvPr id="279" name="Google Shape;279;p5"/>
          <p:cNvSpPr txBox="1"/>
          <p:nvPr/>
        </p:nvSpPr>
        <p:spPr>
          <a:xfrm>
            <a:off x="6505412" y="5829300"/>
            <a:ext cx="4848103" cy="266699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691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76" u="none" cap="none" strike="noStrike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Lakcím CRUD műveletek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E8E4D8"/>
            </a:gs>
            <a:gs pos="100000">
              <a:srgbClr val="F3F1ED"/>
            </a:gs>
          </a:gsLst>
          <a:lin ang="8100000" scaled="0"/>
        </a:grad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6"/>
          <p:cNvSpPr txBox="1"/>
          <p:nvPr/>
        </p:nvSpPr>
        <p:spPr>
          <a:xfrm>
            <a:off x="609584" y="76200"/>
            <a:ext cx="3657508" cy="628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630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31" u="none" cap="none" strike="noStrike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Részletes Funkciók</a:t>
            </a:r>
            <a:endParaRPr/>
          </a:p>
        </p:txBody>
      </p:sp>
      <p:pic>
        <p:nvPicPr>
          <p:cNvPr descr="image.png" id="285" name="Google Shape;28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584" y="629444"/>
            <a:ext cx="304792" cy="234461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6"/>
          <p:cNvSpPr txBox="1"/>
          <p:nvPr/>
        </p:nvSpPr>
        <p:spPr>
          <a:xfrm>
            <a:off x="1028674" y="546649"/>
            <a:ext cx="1533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630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74" u="none" cap="none" strike="noStrike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Diák Kezelés</a:t>
            </a:r>
            <a:endParaRPr/>
          </a:p>
        </p:txBody>
      </p:sp>
      <p:sp>
        <p:nvSpPr>
          <p:cNvPr id="287" name="Google Shape;287;p6"/>
          <p:cNvSpPr/>
          <p:nvPr/>
        </p:nvSpPr>
        <p:spPr>
          <a:xfrm>
            <a:off x="609584" y="1099100"/>
            <a:ext cx="5391000" cy="771600"/>
          </a:xfrm>
          <a:prstGeom prst="roundRect">
            <a:avLst>
              <a:gd fmla="val 19753" name="adj"/>
            </a:avLst>
          </a:prstGeom>
          <a:solidFill>
            <a:srgbClr val="D6C096">
              <a:alpha val="25098"/>
            </a:srgbClr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6"/>
          <p:cNvSpPr/>
          <p:nvPr/>
        </p:nvSpPr>
        <p:spPr>
          <a:xfrm rot="-5400000">
            <a:off x="273285" y="1435325"/>
            <a:ext cx="771600" cy="9900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B89F6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89" name="Google Shape;289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6753" y="1249595"/>
            <a:ext cx="228594" cy="194309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6"/>
          <p:cNvSpPr txBox="1"/>
          <p:nvPr/>
        </p:nvSpPr>
        <p:spPr>
          <a:xfrm>
            <a:off x="1247743" y="1213400"/>
            <a:ext cx="30573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521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96" u="none" cap="none" strike="noStrike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CRUD Műveletek</a:t>
            </a:r>
            <a:endParaRPr/>
          </a:p>
        </p:txBody>
      </p:sp>
      <p:sp>
        <p:nvSpPr>
          <p:cNvPr id="291" name="Google Shape;291;p6"/>
          <p:cNvSpPr txBox="1"/>
          <p:nvPr/>
        </p:nvSpPr>
        <p:spPr>
          <a:xfrm>
            <a:off x="1247743" y="1480100"/>
            <a:ext cx="3057300" cy="27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751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76" u="none" cap="none" strike="noStrike">
                <a:solidFill>
                  <a:srgbClr val="4A4A4A"/>
                </a:solidFill>
                <a:latin typeface="Roboto"/>
                <a:ea typeface="Roboto"/>
                <a:cs typeface="Roboto"/>
                <a:sym typeface="Roboto"/>
              </a:rPr>
              <a:t>Diákok létrehozása, módosítása, törlése</a:t>
            </a:r>
            <a:endParaRPr/>
          </a:p>
        </p:txBody>
      </p:sp>
      <p:sp>
        <p:nvSpPr>
          <p:cNvPr id="292" name="Google Shape;292;p6"/>
          <p:cNvSpPr/>
          <p:nvPr/>
        </p:nvSpPr>
        <p:spPr>
          <a:xfrm>
            <a:off x="609584" y="1946825"/>
            <a:ext cx="5391000" cy="771600"/>
          </a:xfrm>
          <a:prstGeom prst="roundRect">
            <a:avLst>
              <a:gd fmla="val 19753" name="adj"/>
            </a:avLst>
          </a:prstGeom>
          <a:solidFill>
            <a:srgbClr val="D6C096">
              <a:alpha val="25098"/>
            </a:srgbClr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6"/>
          <p:cNvSpPr/>
          <p:nvPr/>
        </p:nvSpPr>
        <p:spPr>
          <a:xfrm rot="-5400000">
            <a:off x="273285" y="2283050"/>
            <a:ext cx="771600" cy="9900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B89F6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94" name="Google Shape;294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6753" y="2097320"/>
            <a:ext cx="228594" cy="194309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6"/>
          <p:cNvSpPr txBox="1"/>
          <p:nvPr/>
        </p:nvSpPr>
        <p:spPr>
          <a:xfrm>
            <a:off x="1247743" y="2061125"/>
            <a:ext cx="27813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521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96" u="none" cap="none" strike="noStrike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Beiratkozás Kezelés</a:t>
            </a:r>
            <a:endParaRPr/>
          </a:p>
        </p:txBody>
      </p:sp>
      <p:sp>
        <p:nvSpPr>
          <p:cNvPr id="296" name="Google Shape;296;p6"/>
          <p:cNvSpPr txBox="1"/>
          <p:nvPr/>
        </p:nvSpPr>
        <p:spPr>
          <a:xfrm>
            <a:off x="1247743" y="2327824"/>
            <a:ext cx="2781300" cy="27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751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76" u="none" cap="none" strike="noStrike">
                <a:solidFill>
                  <a:srgbClr val="4A4A4A"/>
                </a:solidFill>
                <a:latin typeface="Roboto"/>
                <a:ea typeface="Roboto"/>
                <a:cs typeface="Roboto"/>
                <a:sym typeface="Roboto"/>
              </a:rPr>
              <a:t>Új diákok regisztrálása és aktiválása</a:t>
            </a:r>
            <a:endParaRPr/>
          </a:p>
        </p:txBody>
      </p:sp>
      <p:sp>
        <p:nvSpPr>
          <p:cNvPr id="297" name="Google Shape;297;p6"/>
          <p:cNvSpPr/>
          <p:nvPr/>
        </p:nvSpPr>
        <p:spPr>
          <a:xfrm>
            <a:off x="609584" y="2804075"/>
            <a:ext cx="5391000" cy="771600"/>
          </a:xfrm>
          <a:prstGeom prst="roundRect">
            <a:avLst>
              <a:gd fmla="val 19753" name="adj"/>
            </a:avLst>
          </a:prstGeom>
          <a:solidFill>
            <a:srgbClr val="D6C096">
              <a:alpha val="25098"/>
            </a:srgbClr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6"/>
          <p:cNvSpPr/>
          <p:nvPr/>
        </p:nvSpPr>
        <p:spPr>
          <a:xfrm rot="-5400000">
            <a:off x="273285" y="3140300"/>
            <a:ext cx="771600" cy="9900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B89F6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99" name="Google Shape;299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6753" y="2954570"/>
            <a:ext cx="228594" cy="194309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6"/>
          <p:cNvSpPr txBox="1"/>
          <p:nvPr/>
        </p:nvSpPr>
        <p:spPr>
          <a:xfrm>
            <a:off x="1247743" y="2918375"/>
            <a:ext cx="27528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521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96" u="none" cap="none" strike="noStrike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Beköltözés Kezelés</a:t>
            </a:r>
            <a:endParaRPr/>
          </a:p>
        </p:txBody>
      </p:sp>
      <p:sp>
        <p:nvSpPr>
          <p:cNvPr id="301" name="Google Shape;301;p6"/>
          <p:cNvSpPr txBox="1"/>
          <p:nvPr/>
        </p:nvSpPr>
        <p:spPr>
          <a:xfrm>
            <a:off x="1247743" y="3185074"/>
            <a:ext cx="2752800" cy="27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751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76" u="none" cap="none" strike="noStrike">
                <a:solidFill>
                  <a:srgbClr val="4A4A4A"/>
                </a:solidFill>
                <a:latin typeface="Roboto"/>
                <a:ea typeface="Roboto"/>
                <a:cs typeface="Roboto"/>
                <a:sym typeface="Roboto"/>
              </a:rPr>
              <a:t>Diákok szobába történő elhelyezése</a:t>
            </a:r>
            <a:endParaRPr/>
          </a:p>
        </p:txBody>
      </p:sp>
      <p:pic>
        <p:nvPicPr>
          <p:cNvPr descr="image.png" id="302" name="Google Shape;302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91095" y="629444"/>
            <a:ext cx="304792" cy="234461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6"/>
          <p:cNvSpPr txBox="1"/>
          <p:nvPr/>
        </p:nvSpPr>
        <p:spPr>
          <a:xfrm>
            <a:off x="6610184" y="546649"/>
            <a:ext cx="17430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630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74" u="none" cap="none" strike="noStrike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Szoba Kezelés</a:t>
            </a:r>
            <a:endParaRPr/>
          </a:p>
        </p:txBody>
      </p:sp>
      <p:sp>
        <p:nvSpPr>
          <p:cNvPr id="304" name="Google Shape;304;p6"/>
          <p:cNvSpPr/>
          <p:nvPr/>
        </p:nvSpPr>
        <p:spPr>
          <a:xfrm>
            <a:off x="6191095" y="1099100"/>
            <a:ext cx="5391000" cy="771600"/>
          </a:xfrm>
          <a:prstGeom prst="roundRect">
            <a:avLst>
              <a:gd fmla="val 19753" name="adj"/>
            </a:avLst>
          </a:prstGeom>
          <a:solidFill>
            <a:srgbClr val="D6C096">
              <a:alpha val="25098"/>
            </a:srgbClr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6"/>
          <p:cNvSpPr/>
          <p:nvPr/>
        </p:nvSpPr>
        <p:spPr>
          <a:xfrm rot="-5400000">
            <a:off x="5854796" y="1435325"/>
            <a:ext cx="771600" cy="9900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B89F6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06" name="Google Shape;306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48263" y="1249595"/>
            <a:ext cx="228594" cy="194309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6"/>
          <p:cNvSpPr txBox="1"/>
          <p:nvPr/>
        </p:nvSpPr>
        <p:spPr>
          <a:xfrm>
            <a:off x="6829254" y="1213400"/>
            <a:ext cx="38862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521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96" u="none" cap="none" strike="noStrike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Foglaltság Követése</a:t>
            </a:r>
            <a:endParaRPr/>
          </a:p>
        </p:txBody>
      </p:sp>
      <p:sp>
        <p:nvSpPr>
          <p:cNvPr id="308" name="Google Shape;308;p6"/>
          <p:cNvSpPr txBox="1"/>
          <p:nvPr/>
        </p:nvSpPr>
        <p:spPr>
          <a:xfrm>
            <a:off x="6829254" y="1480100"/>
            <a:ext cx="3886200" cy="27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751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76" u="none" cap="none" strike="noStrike">
                <a:solidFill>
                  <a:srgbClr val="4A4A4A"/>
                </a:solidFill>
                <a:latin typeface="Roboto"/>
                <a:ea typeface="Roboto"/>
                <a:cs typeface="Roboto"/>
                <a:sym typeface="Roboto"/>
              </a:rPr>
              <a:t>Szobák kapacitásának és elhelyezésének figyelése</a:t>
            </a:r>
            <a:endParaRPr/>
          </a:p>
        </p:txBody>
      </p:sp>
      <p:sp>
        <p:nvSpPr>
          <p:cNvPr id="309" name="Google Shape;309;p6"/>
          <p:cNvSpPr/>
          <p:nvPr/>
        </p:nvSpPr>
        <p:spPr>
          <a:xfrm>
            <a:off x="6191095" y="1946825"/>
            <a:ext cx="5391000" cy="771600"/>
          </a:xfrm>
          <a:prstGeom prst="roundRect">
            <a:avLst>
              <a:gd fmla="val 19753" name="adj"/>
            </a:avLst>
          </a:prstGeom>
          <a:solidFill>
            <a:srgbClr val="D6C096">
              <a:alpha val="25098"/>
            </a:srgbClr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6"/>
          <p:cNvSpPr/>
          <p:nvPr/>
        </p:nvSpPr>
        <p:spPr>
          <a:xfrm rot="-5400000">
            <a:off x="5854796" y="2283050"/>
            <a:ext cx="771600" cy="9900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B89F6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11" name="Google Shape;311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48263" y="2097320"/>
            <a:ext cx="228594" cy="194309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6"/>
          <p:cNvSpPr txBox="1"/>
          <p:nvPr/>
        </p:nvSpPr>
        <p:spPr>
          <a:xfrm>
            <a:off x="6829254" y="2061125"/>
            <a:ext cx="28383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521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96" u="none" cap="none" strike="noStrike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Szobaváltási Kérelmek</a:t>
            </a:r>
            <a:endParaRPr/>
          </a:p>
        </p:txBody>
      </p:sp>
      <p:sp>
        <p:nvSpPr>
          <p:cNvPr id="313" name="Google Shape;313;p6"/>
          <p:cNvSpPr txBox="1"/>
          <p:nvPr/>
        </p:nvSpPr>
        <p:spPr>
          <a:xfrm>
            <a:off x="6829254" y="2327824"/>
            <a:ext cx="2838300" cy="27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751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76" u="none" cap="none" strike="noStrike">
                <a:solidFill>
                  <a:srgbClr val="4A4A4A"/>
                </a:solidFill>
                <a:latin typeface="Roboto"/>
                <a:ea typeface="Roboto"/>
                <a:cs typeface="Roboto"/>
                <a:sym typeface="Roboto"/>
              </a:rPr>
              <a:t>Kérelmek kezelése és engedélyezése</a:t>
            </a:r>
            <a:endParaRPr/>
          </a:p>
        </p:txBody>
      </p:sp>
      <p:sp>
        <p:nvSpPr>
          <p:cNvPr id="314" name="Google Shape;314;p6"/>
          <p:cNvSpPr/>
          <p:nvPr/>
        </p:nvSpPr>
        <p:spPr>
          <a:xfrm>
            <a:off x="6191095" y="2804075"/>
            <a:ext cx="5391000" cy="771600"/>
          </a:xfrm>
          <a:prstGeom prst="roundRect">
            <a:avLst>
              <a:gd fmla="val 19753" name="adj"/>
            </a:avLst>
          </a:prstGeom>
          <a:solidFill>
            <a:srgbClr val="D6C096">
              <a:alpha val="25098"/>
            </a:srgbClr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6"/>
          <p:cNvSpPr/>
          <p:nvPr/>
        </p:nvSpPr>
        <p:spPr>
          <a:xfrm rot="-5400000">
            <a:off x="5854796" y="3140300"/>
            <a:ext cx="771600" cy="9900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B89F6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16" name="Google Shape;316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48263" y="2954570"/>
            <a:ext cx="228594" cy="194309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6"/>
          <p:cNvSpPr txBox="1"/>
          <p:nvPr/>
        </p:nvSpPr>
        <p:spPr>
          <a:xfrm>
            <a:off x="6829254" y="2918375"/>
            <a:ext cx="23526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521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96" u="none" cap="none" strike="noStrike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Beköltözés Folyamat</a:t>
            </a:r>
            <a:endParaRPr/>
          </a:p>
        </p:txBody>
      </p:sp>
      <p:sp>
        <p:nvSpPr>
          <p:cNvPr id="318" name="Google Shape;318;p6"/>
          <p:cNvSpPr txBox="1"/>
          <p:nvPr/>
        </p:nvSpPr>
        <p:spPr>
          <a:xfrm>
            <a:off x="6829254" y="3185074"/>
            <a:ext cx="2352600" cy="27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751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76" u="none" cap="none" strike="noStrike">
                <a:solidFill>
                  <a:srgbClr val="4A4A4A"/>
                </a:solidFill>
                <a:latin typeface="Roboto"/>
                <a:ea typeface="Roboto"/>
                <a:cs typeface="Roboto"/>
                <a:sym typeface="Roboto"/>
              </a:rPr>
              <a:t>Új beköltözők adminisztrációja</a:t>
            </a:r>
            <a:endParaRPr/>
          </a:p>
        </p:txBody>
      </p:sp>
      <p:pic>
        <p:nvPicPr>
          <p:cNvPr descr="image.png" id="319" name="Google Shape;319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9584" y="3837171"/>
            <a:ext cx="304792" cy="257907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6"/>
          <p:cNvSpPr txBox="1"/>
          <p:nvPr/>
        </p:nvSpPr>
        <p:spPr>
          <a:xfrm>
            <a:off x="1028674" y="3766100"/>
            <a:ext cx="28575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630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74" u="none" cap="none" strike="noStrike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Szülő &amp; Lakcím Kezelés</a:t>
            </a:r>
            <a:endParaRPr/>
          </a:p>
        </p:txBody>
      </p:sp>
      <p:sp>
        <p:nvSpPr>
          <p:cNvPr id="321" name="Google Shape;321;p6"/>
          <p:cNvSpPr/>
          <p:nvPr/>
        </p:nvSpPr>
        <p:spPr>
          <a:xfrm>
            <a:off x="609584" y="4318549"/>
            <a:ext cx="5391000" cy="771600"/>
          </a:xfrm>
          <a:prstGeom prst="roundRect">
            <a:avLst>
              <a:gd fmla="val 19753" name="adj"/>
            </a:avLst>
          </a:prstGeom>
          <a:solidFill>
            <a:srgbClr val="D6C096">
              <a:alpha val="25098"/>
            </a:srgbClr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6"/>
          <p:cNvSpPr/>
          <p:nvPr/>
        </p:nvSpPr>
        <p:spPr>
          <a:xfrm rot="-5400000">
            <a:off x="273285" y="4654774"/>
            <a:ext cx="771600" cy="9900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B89F6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23" name="Google Shape;323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6753" y="4469044"/>
            <a:ext cx="228594" cy="194309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6"/>
          <p:cNvSpPr txBox="1"/>
          <p:nvPr/>
        </p:nvSpPr>
        <p:spPr>
          <a:xfrm>
            <a:off x="1247743" y="4432849"/>
            <a:ext cx="31431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521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96" u="none" cap="none" strike="noStrike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Szülő Adatok Nyilvántartása</a:t>
            </a:r>
            <a:endParaRPr/>
          </a:p>
        </p:txBody>
      </p:sp>
      <p:sp>
        <p:nvSpPr>
          <p:cNvPr id="325" name="Google Shape;325;p6"/>
          <p:cNvSpPr txBox="1"/>
          <p:nvPr/>
        </p:nvSpPr>
        <p:spPr>
          <a:xfrm>
            <a:off x="1247743" y="4699550"/>
            <a:ext cx="3143100" cy="27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751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76" u="none" cap="none" strike="noStrike">
                <a:solidFill>
                  <a:srgbClr val="4A4A4A"/>
                </a:solidFill>
                <a:latin typeface="Roboto"/>
                <a:ea typeface="Roboto"/>
                <a:cs typeface="Roboto"/>
                <a:sym typeface="Roboto"/>
              </a:rPr>
              <a:t>Szülők adatainak tárolása és módosítása</a:t>
            </a:r>
            <a:endParaRPr/>
          </a:p>
        </p:txBody>
      </p:sp>
      <p:sp>
        <p:nvSpPr>
          <p:cNvPr id="326" name="Google Shape;326;p6"/>
          <p:cNvSpPr/>
          <p:nvPr/>
        </p:nvSpPr>
        <p:spPr>
          <a:xfrm>
            <a:off x="609584" y="5166275"/>
            <a:ext cx="5391000" cy="771600"/>
          </a:xfrm>
          <a:prstGeom prst="roundRect">
            <a:avLst>
              <a:gd fmla="val 19753" name="adj"/>
            </a:avLst>
          </a:prstGeom>
          <a:solidFill>
            <a:srgbClr val="D6C096">
              <a:alpha val="25098"/>
            </a:srgbClr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6"/>
          <p:cNvSpPr/>
          <p:nvPr/>
        </p:nvSpPr>
        <p:spPr>
          <a:xfrm rot="-5400000">
            <a:off x="273285" y="5502500"/>
            <a:ext cx="771600" cy="9900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B89F6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28" name="Google Shape;328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6753" y="5316770"/>
            <a:ext cx="228594" cy="194309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6"/>
          <p:cNvSpPr txBox="1"/>
          <p:nvPr/>
        </p:nvSpPr>
        <p:spPr>
          <a:xfrm>
            <a:off x="1247743" y="5280575"/>
            <a:ext cx="21336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521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96" u="none" cap="none" strike="noStrike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Lakcím Adatok Kezelése</a:t>
            </a:r>
            <a:endParaRPr/>
          </a:p>
        </p:txBody>
      </p:sp>
      <p:sp>
        <p:nvSpPr>
          <p:cNvPr id="330" name="Google Shape;330;p6"/>
          <p:cNvSpPr txBox="1"/>
          <p:nvPr/>
        </p:nvSpPr>
        <p:spPr>
          <a:xfrm>
            <a:off x="1247743" y="5547274"/>
            <a:ext cx="2133600" cy="27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751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76" u="none" cap="none" strike="noStrike">
                <a:solidFill>
                  <a:srgbClr val="4A4A4A"/>
                </a:solidFill>
                <a:latin typeface="Roboto"/>
                <a:ea typeface="Roboto"/>
                <a:cs typeface="Roboto"/>
                <a:sym typeface="Roboto"/>
              </a:rPr>
              <a:t>Címek tárolása és frissítése</a:t>
            </a:r>
            <a:endParaRPr/>
          </a:p>
        </p:txBody>
      </p:sp>
      <p:sp>
        <p:nvSpPr>
          <p:cNvPr id="331" name="Google Shape;331;p6"/>
          <p:cNvSpPr/>
          <p:nvPr/>
        </p:nvSpPr>
        <p:spPr>
          <a:xfrm>
            <a:off x="609584" y="6014000"/>
            <a:ext cx="5391000" cy="771600"/>
          </a:xfrm>
          <a:prstGeom prst="roundRect">
            <a:avLst>
              <a:gd fmla="val 19753" name="adj"/>
            </a:avLst>
          </a:prstGeom>
          <a:solidFill>
            <a:srgbClr val="D6C096">
              <a:alpha val="25098"/>
            </a:srgbClr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6"/>
          <p:cNvSpPr/>
          <p:nvPr/>
        </p:nvSpPr>
        <p:spPr>
          <a:xfrm rot="-5400000">
            <a:off x="273285" y="6350224"/>
            <a:ext cx="771600" cy="9900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B89F6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33" name="Google Shape;333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6753" y="6164494"/>
            <a:ext cx="228594" cy="194309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6"/>
          <p:cNvSpPr txBox="1"/>
          <p:nvPr/>
        </p:nvSpPr>
        <p:spPr>
          <a:xfrm>
            <a:off x="1247743" y="6128300"/>
            <a:ext cx="26766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521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96" u="none" cap="none" strike="noStrike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Kapcsolatok Nyilvántartása</a:t>
            </a:r>
            <a:endParaRPr/>
          </a:p>
        </p:txBody>
      </p:sp>
      <p:sp>
        <p:nvSpPr>
          <p:cNvPr id="335" name="Google Shape;335;p6"/>
          <p:cNvSpPr txBox="1"/>
          <p:nvPr/>
        </p:nvSpPr>
        <p:spPr>
          <a:xfrm>
            <a:off x="1247743" y="6395000"/>
            <a:ext cx="2676600" cy="27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751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76" u="none" cap="none" strike="noStrike">
                <a:solidFill>
                  <a:srgbClr val="4A4A4A"/>
                </a:solidFill>
                <a:latin typeface="Roboto"/>
                <a:ea typeface="Roboto"/>
                <a:cs typeface="Roboto"/>
                <a:sym typeface="Roboto"/>
              </a:rPr>
              <a:t>Diák-szülő-lakcím összeköttetések</a:t>
            </a:r>
            <a:endParaRPr/>
          </a:p>
        </p:txBody>
      </p:sp>
      <p:pic>
        <p:nvPicPr>
          <p:cNvPr descr="image.png" id="336" name="Google Shape;336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191095" y="3838636"/>
            <a:ext cx="304792" cy="254976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6"/>
          <p:cNvSpPr txBox="1"/>
          <p:nvPr/>
        </p:nvSpPr>
        <p:spPr>
          <a:xfrm>
            <a:off x="6610184" y="3766100"/>
            <a:ext cx="23337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630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74" u="none" cap="none" strike="noStrike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Értesítési Rendszer</a:t>
            </a:r>
            <a:endParaRPr/>
          </a:p>
        </p:txBody>
      </p:sp>
      <p:sp>
        <p:nvSpPr>
          <p:cNvPr id="338" name="Google Shape;338;p6"/>
          <p:cNvSpPr/>
          <p:nvPr/>
        </p:nvSpPr>
        <p:spPr>
          <a:xfrm>
            <a:off x="6191095" y="4318549"/>
            <a:ext cx="5391000" cy="771600"/>
          </a:xfrm>
          <a:prstGeom prst="roundRect">
            <a:avLst>
              <a:gd fmla="val 19753" name="adj"/>
            </a:avLst>
          </a:prstGeom>
          <a:solidFill>
            <a:srgbClr val="D6C096">
              <a:alpha val="25098"/>
            </a:srgbClr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6"/>
          <p:cNvSpPr/>
          <p:nvPr/>
        </p:nvSpPr>
        <p:spPr>
          <a:xfrm rot="-5400000">
            <a:off x="5854796" y="4654774"/>
            <a:ext cx="771600" cy="9900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B89F6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40" name="Google Shape;34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48263" y="4469044"/>
            <a:ext cx="228594" cy="194309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6"/>
          <p:cNvSpPr txBox="1"/>
          <p:nvPr/>
        </p:nvSpPr>
        <p:spPr>
          <a:xfrm>
            <a:off x="6829254" y="4432849"/>
            <a:ext cx="28671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521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96" u="none" cap="none" strike="noStrike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Diák Értesítések</a:t>
            </a:r>
            <a:endParaRPr/>
          </a:p>
        </p:txBody>
      </p:sp>
      <p:sp>
        <p:nvSpPr>
          <p:cNvPr id="342" name="Google Shape;342;p6"/>
          <p:cNvSpPr txBox="1"/>
          <p:nvPr/>
        </p:nvSpPr>
        <p:spPr>
          <a:xfrm>
            <a:off x="6829254" y="4699550"/>
            <a:ext cx="2867100" cy="27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751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76" u="none" cap="none" strike="noStrike">
                <a:solidFill>
                  <a:srgbClr val="4A4A4A"/>
                </a:solidFill>
                <a:latin typeface="Roboto"/>
                <a:ea typeface="Roboto"/>
                <a:cs typeface="Roboto"/>
                <a:sym typeface="Roboto"/>
              </a:rPr>
              <a:t>Fontos üzenetek küldése a diákoknak</a:t>
            </a:r>
            <a:endParaRPr/>
          </a:p>
        </p:txBody>
      </p:sp>
      <p:sp>
        <p:nvSpPr>
          <p:cNvPr id="343" name="Google Shape;343;p6"/>
          <p:cNvSpPr/>
          <p:nvPr/>
        </p:nvSpPr>
        <p:spPr>
          <a:xfrm>
            <a:off x="6191095" y="5166275"/>
            <a:ext cx="5391000" cy="771600"/>
          </a:xfrm>
          <a:prstGeom prst="roundRect">
            <a:avLst>
              <a:gd fmla="val 19753" name="adj"/>
            </a:avLst>
          </a:prstGeom>
          <a:solidFill>
            <a:srgbClr val="D6C096">
              <a:alpha val="25098"/>
            </a:srgbClr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6"/>
          <p:cNvSpPr/>
          <p:nvPr/>
        </p:nvSpPr>
        <p:spPr>
          <a:xfrm rot="-5400000">
            <a:off x="5854796" y="5502500"/>
            <a:ext cx="771600" cy="9900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B89F6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45" name="Google Shape;345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48263" y="5316770"/>
            <a:ext cx="228594" cy="194309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6"/>
          <p:cNvSpPr txBox="1"/>
          <p:nvPr/>
        </p:nvSpPr>
        <p:spPr>
          <a:xfrm>
            <a:off x="6829254" y="5280575"/>
            <a:ext cx="38385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521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96" u="none" cap="none" strike="noStrike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Admin Kommunikáció</a:t>
            </a:r>
            <a:endParaRPr/>
          </a:p>
        </p:txBody>
      </p:sp>
      <p:sp>
        <p:nvSpPr>
          <p:cNvPr id="347" name="Google Shape;347;p6"/>
          <p:cNvSpPr txBox="1"/>
          <p:nvPr/>
        </p:nvSpPr>
        <p:spPr>
          <a:xfrm>
            <a:off x="6829254" y="5547274"/>
            <a:ext cx="3838500" cy="27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751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76" u="none" cap="none" strike="noStrike">
                <a:solidFill>
                  <a:srgbClr val="4A4A4A"/>
                </a:solidFill>
                <a:latin typeface="Roboto"/>
                <a:ea typeface="Roboto"/>
                <a:cs typeface="Roboto"/>
                <a:sym typeface="Roboto"/>
              </a:rPr>
              <a:t>Adminisztrátorok és diákok közötti kommunikáció</a:t>
            </a:r>
            <a:endParaRPr/>
          </a:p>
        </p:txBody>
      </p:sp>
      <p:sp>
        <p:nvSpPr>
          <p:cNvPr id="348" name="Google Shape;348;p6"/>
          <p:cNvSpPr/>
          <p:nvPr/>
        </p:nvSpPr>
        <p:spPr>
          <a:xfrm>
            <a:off x="6191095" y="6014000"/>
            <a:ext cx="5391000" cy="771600"/>
          </a:xfrm>
          <a:prstGeom prst="roundRect">
            <a:avLst>
              <a:gd fmla="val 19753" name="adj"/>
            </a:avLst>
          </a:prstGeom>
          <a:solidFill>
            <a:srgbClr val="D6C096">
              <a:alpha val="25098"/>
            </a:srgbClr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6"/>
          <p:cNvSpPr/>
          <p:nvPr/>
        </p:nvSpPr>
        <p:spPr>
          <a:xfrm rot="-5400000">
            <a:off x="5854796" y="6350224"/>
            <a:ext cx="771600" cy="9900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B89F6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50" name="Google Shape;35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48263" y="6164494"/>
            <a:ext cx="228594" cy="194309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6"/>
          <p:cNvSpPr txBox="1"/>
          <p:nvPr/>
        </p:nvSpPr>
        <p:spPr>
          <a:xfrm>
            <a:off x="6829254" y="6128300"/>
            <a:ext cx="27621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521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96" u="none" cap="none" strike="noStrike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Automatikus Értesítések</a:t>
            </a:r>
            <a:endParaRPr/>
          </a:p>
        </p:txBody>
      </p:sp>
      <p:sp>
        <p:nvSpPr>
          <p:cNvPr id="352" name="Google Shape;352;p6"/>
          <p:cNvSpPr txBox="1"/>
          <p:nvPr/>
        </p:nvSpPr>
        <p:spPr>
          <a:xfrm>
            <a:off x="6829254" y="6395000"/>
            <a:ext cx="2762100" cy="27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751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76" u="none" cap="none" strike="noStrike">
                <a:solidFill>
                  <a:srgbClr val="4A4A4A"/>
                </a:solidFill>
                <a:latin typeface="Roboto"/>
                <a:ea typeface="Roboto"/>
                <a:cs typeface="Roboto"/>
                <a:sym typeface="Roboto"/>
              </a:rPr>
              <a:t>Rendszer üzenetek és emlékeztetők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E8E4D8"/>
            </a:gs>
            <a:gs pos="100000">
              <a:srgbClr val="F3F1ED"/>
            </a:gs>
          </a:gsLst>
          <a:lin ang="8100000" scaled="0"/>
        </a:gradFill>
      </p:bgPr>
    </p:bg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7"/>
          <p:cNvSpPr txBox="1"/>
          <p:nvPr/>
        </p:nvSpPr>
        <p:spPr>
          <a:xfrm>
            <a:off x="609584" y="76200"/>
            <a:ext cx="3190795" cy="628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630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31" u="none" cap="none" strike="noStrike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Project Overview</a:t>
            </a:r>
            <a:endParaRPr/>
          </a:p>
        </p:txBody>
      </p:sp>
      <p:pic>
        <p:nvPicPr>
          <p:cNvPr descr="image.png" id="358" name="Google Shape;35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584" y="1714828"/>
            <a:ext cx="342891" cy="266043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7"/>
          <p:cNvSpPr txBox="1"/>
          <p:nvPr/>
        </p:nvSpPr>
        <p:spPr>
          <a:xfrm>
            <a:off x="1066773" y="1619250"/>
            <a:ext cx="277170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631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13" u="none" cap="none" strike="noStrike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System Introduction</a:t>
            </a:r>
            <a:endParaRPr/>
          </a:p>
        </p:txBody>
      </p:sp>
      <p:sp>
        <p:nvSpPr>
          <p:cNvPr id="360" name="Google Shape;360;p7"/>
          <p:cNvSpPr/>
          <p:nvPr/>
        </p:nvSpPr>
        <p:spPr>
          <a:xfrm>
            <a:off x="609584" y="2266950"/>
            <a:ext cx="5352916" cy="1733550"/>
          </a:xfrm>
          <a:prstGeom prst="roundRect">
            <a:avLst>
              <a:gd fmla="val 8791" name="adj"/>
            </a:avLst>
          </a:prstGeom>
          <a:solidFill>
            <a:srgbClr val="D6C09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7"/>
          <p:cNvSpPr/>
          <p:nvPr/>
        </p:nvSpPr>
        <p:spPr>
          <a:xfrm rot="-5400000">
            <a:off x="-207661" y="3084195"/>
            <a:ext cx="1733550" cy="9906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B89F6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7"/>
          <p:cNvSpPr txBox="1"/>
          <p:nvPr/>
        </p:nvSpPr>
        <p:spPr>
          <a:xfrm>
            <a:off x="942951" y="2457450"/>
            <a:ext cx="4714757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630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35" u="none" cap="none" strike="noStrike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KANYR - Dormitory Management System</a:t>
            </a:r>
            <a:endParaRPr/>
          </a:p>
        </p:txBody>
      </p:sp>
      <p:sp>
        <p:nvSpPr>
          <p:cNvPr id="363" name="Google Shape;363;p7"/>
          <p:cNvSpPr txBox="1"/>
          <p:nvPr/>
        </p:nvSpPr>
        <p:spPr>
          <a:xfrm>
            <a:off x="942951" y="2876549"/>
            <a:ext cx="4714757" cy="933449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739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96" u="none" cap="none" strike="noStrike">
                <a:solidFill>
                  <a:srgbClr val="2A2A2A"/>
                </a:solidFill>
                <a:latin typeface="Roboto"/>
                <a:ea typeface="Roboto"/>
                <a:cs typeface="Roboto"/>
                <a:sym typeface="Roboto"/>
              </a:rPr>
              <a:t>A comprehensive web application for managing student housing, room assignments, and administrative tasks</a:t>
            </a:r>
            <a:endParaRPr/>
          </a:p>
        </p:txBody>
      </p:sp>
      <p:pic>
        <p:nvPicPr>
          <p:cNvPr descr="image.png" id="364" name="Google Shape;364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584" y="4316290"/>
            <a:ext cx="304792" cy="187569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7"/>
          <p:cNvSpPr txBox="1"/>
          <p:nvPr/>
        </p:nvSpPr>
        <p:spPr>
          <a:xfrm>
            <a:off x="1028674" y="4181474"/>
            <a:ext cx="1743031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631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13" u="none" cap="none" strike="noStrike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Target Users</a:t>
            </a:r>
            <a:endParaRPr/>
          </a:p>
        </p:txBody>
      </p:sp>
      <p:sp>
        <p:nvSpPr>
          <p:cNvPr id="366" name="Google Shape;366;p7"/>
          <p:cNvSpPr/>
          <p:nvPr/>
        </p:nvSpPr>
        <p:spPr>
          <a:xfrm>
            <a:off x="609584" y="4791075"/>
            <a:ext cx="2638359" cy="1257300"/>
          </a:xfrm>
          <a:prstGeom prst="roundRect">
            <a:avLst>
              <a:gd fmla="val 12121" name="adj"/>
            </a:avLst>
          </a:prstGeom>
          <a:solidFill>
            <a:srgbClr val="D6C096">
              <a:alpha val="25098"/>
            </a:srgbClr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7"/>
          <p:cNvSpPr/>
          <p:nvPr/>
        </p:nvSpPr>
        <p:spPr>
          <a:xfrm rot="-5400000">
            <a:off x="30464" y="5370195"/>
            <a:ext cx="1257300" cy="9906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B89F6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68" name="Google Shape;368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90655" y="4978644"/>
            <a:ext cx="304792" cy="234461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7"/>
          <p:cNvSpPr txBox="1"/>
          <p:nvPr/>
        </p:nvSpPr>
        <p:spPr>
          <a:xfrm>
            <a:off x="866753" y="5324474"/>
            <a:ext cx="2152596" cy="266699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ctr">
              <a:lnSpc>
                <a:spcPct val="1521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96" u="none" cap="none" strike="noStrike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Administrators</a:t>
            </a:r>
            <a:endParaRPr/>
          </a:p>
        </p:txBody>
      </p:sp>
      <p:sp>
        <p:nvSpPr>
          <p:cNvPr id="370" name="Google Shape;370;p7"/>
          <p:cNvSpPr txBox="1"/>
          <p:nvPr/>
        </p:nvSpPr>
        <p:spPr>
          <a:xfrm>
            <a:off x="866753" y="5629275"/>
            <a:ext cx="2152596" cy="266699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ctr">
              <a:lnSpc>
                <a:spcPct val="1691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76" u="none" cap="none" strike="noStrike">
                <a:solidFill>
                  <a:srgbClr val="4A4A4A"/>
                </a:solidFill>
                <a:latin typeface="Roboto"/>
                <a:ea typeface="Roboto"/>
                <a:cs typeface="Roboto"/>
                <a:sym typeface="Roboto"/>
              </a:rPr>
              <a:t>Full system control</a:t>
            </a:r>
            <a:endParaRPr/>
          </a:p>
        </p:txBody>
      </p:sp>
      <p:sp>
        <p:nvSpPr>
          <p:cNvPr id="371" name="Google Shape;371;p7"/>
          <p:cNvSpPr/>
          <p:nvPr/>
        </p:nvSpPr>
        <p:spPr>
          <a:xfrm>
            <a:off x="3324141" y="4791075"/>
            <a:ext cx="2638359" cy="1257300"/>
          </a:xfrm>
          <a:prstGeom prst="roundRect">
            <a:avLst>
              <a:gd fmla="val 12121" name="adj"/>
            </a:avLst>
          </a:prstGeom>
          <a:solidFill>
            <a:srgbClr val="D6C096">
              <a:alpha val="25098"/>
            </a:srgbClr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7"/>
          <p:cNvSpPr/>
          <p:nvPr/>
        </p:nvSpPr>
        <p:spPr>
          <a:xfrm rot="-5400000">
            <a:off x="2745021" y="5370195"/>
            <a:ext cx="1257300" cy="9906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B89F6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73" name="Google Shape;373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505212" y="4978644"/>
            <a:ext cx="304792" cy="234461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7"/>
          <p:cNvSpPr txBox="1"/>
          <p:nvPr/>
        </p:nvSpPr>
        <p:spPr>
          <a:xfrm>
            <a:off x="3581310" y="5324474"/>
            <a:ext cx="2152596" cy="266699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ctr">
              <a:lnSpc>
                <a:spcPct val="1521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96" u="none" cap="none" strike="noStrike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Students</a:t>
            </a:r>
            <a:endParaRPr/>
          </a:p>
        </p:txBody>
      </p:sp>
      <p:sp>
        <p:nvSpPr>
          <p:cNvPr id="375" name="Google Shape;375;p7"/>
          <p:cNvSpPr txBox="1"/>
          <p:nvPr/>
        </p:nvSpPr>
        <p:spPr>
          <a:xfrm>
            <a:off x="3581310" y="5629275"/>
            <a:ext cx="2152596" cy="266699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ctr">
              <a:lnSpc>
                <a:spcPct val="1691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76" u="none" cap="none" strike="noStrike">
                <a:solidFill>
                  <a:srgbClr val="4A4A4A"/>
                </a:solidFill>
                <a:latin typeface="Roboto"/>
                <a:ea typeface="Roboto"/>
                <a:cs typeface="Roboto"/>
                <a:sym typeface="Roboto"/>
              </a:rPr>
              <a:t>Limited access</a:t>
            </a:r>
            <a:endParaRPr/>
          </a:p>
        </p:txBody>
      </p:sp>
      <p:pic>
        <p:nvPicPr>
          <p:cNvPr descr="image.png" id="376" name="Google Shape;376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29194" y="1703004"/>
            <a:ext cx="342891" cy="289691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7"/>
          <p:cNvSpPr txBox="1"/>
          <p:nvPr/>
        </p:nvSpPr>
        <p:spPr>
          <a:xfrm>
            <a:off x="6686382" y="1619250"/>
            <a:ext cx="1914477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631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13" u="none" cap="none" strike="noStrike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Core Features</a:t>
            </a:r>
            <a:endParaRPr/>
          </a:p>
        </p:txBody>
      </p:sp>
      <p:sp>
        <p:nvSpPr>
          <p:cNvPr id="378" name="Google Shape;378;p7"/>
          <p:cNvSpPr/>
          <p:nvPr/>
        </p:nvSpPr>
        <p:spPr>
          <a:xfrm>
            <a:off x="6229194" y="2228850"/>
            <a:ext cx="5352916" cy="495299"/>
          </a:xfrm>
          <a:prstGeom prst="roundRect">
            <a:avLst>
              <a:gd fmla="val 30769" name="adj"/>
            </a:avLst>
          </a:prstGeom>
          <a:solidFill>
            <a:srgbClr val="D6C096">
              <a:alpha val="25098"/>
            </a:srgbClr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7"/>
          <p:cNvSpPr/>
          <p:nvPr/>
        </p:nvSpPr>
        <p:spPr>
          <a:xfrm rot="-5400000">
            <a:off x="6031075" y="2426969"/>
            <a:ext cx="495299" cy="9906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B89F6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80" name="Google Shape;380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486362" y="2396755"/>
            <a:ext cx="247643" cy="178538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7"/>
          <p:cNvSpPr txBox="1"/>
          <p:nvPr/>
        </p:nvSpPr>
        <p:spPr>
          <a:xfrm>
            <a:off x="6886402" y="2343150"/>
            <a:ext cx="2990775" cy="266699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521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96" u="none" cap="none" strike="noStrike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Student Management &amp; Enrollment</a:t>
            </a:r>
            <a:endParaRPr/>
          </a:p>
        </p:txBody>
      </p:sp>
      <p:sp>
        <p:nvSpPr>
          <p:cNvPr id="382" name="Google Shape;382;p7"/>
          <p:cNvSpPr/>
          <p:nvPr/>
        </p:nvSpPr>
        <p:spPr>
          <a:xfrm>
            <a:off x="6229194" y="2800350"/>
            <a:ext cx="5352916" cy="495299"/>
          </a:xfrm>
          <a:prstGeom prst="roundRect">
            <a:avLst>
              <a:gd fmla="val 30769" name="adj"/>
            </a:avLst>
          </a:prstGeom>
          <a:solidFill>
            <a:srgbClr val="D6C096">
              <a:alpha val="25098"/>
            </a:srgbClr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7"/>
          <p:cNvSpPr/>
          <p:nvPr/>
        </p:nvSpPr>
        <p:spPr>
          <a:xfrm rot="-5400000">
            <a:off x="6031075" y="2998469"/>
            <a:ext cx="495299" cy="9906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B89F6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84" name="Google Shape;384;p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486362" y="2979774"/>
            <a:ext cx="247643" cy="155501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7"/>
          <p:cNvSpPr txBox="1"/>
          <p:nvPr/>
        </p:nvSpPr>
        <p:spPr>
          <a:xfrm>
            <a:off x="6886402" y="2914650"/>
            <a:ext cx="2543111" cy="266699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521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96" u="none" cap="none" strike="noStrike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Room Assignment &amp; Tracking</a:t>
            </a:r>
            <a:endParaRPr/>
          </a:p>
        </p:txBody>
      </p:sp>
      <p:sp>
        <p:nvSpPr>
          <p:cNvPr id="386" name="Google Shape;386;p7"/>
          <p:cNvSpPr/>
          <p:nvPr/>
        </p:nvSpPr>
        <p:spPr>
          <a:xfrm>
            <a:off x="6229194" y="3371850"/>
            <a:ext cx="5352916" cy="495299"/>
          </a:xfrm>
          <a:prstGeom prst="roundRect">
            <a:avLst>
              <a:gd fmla="val 30769" name="adj"/>
            </a:avLst>
          </a:prstGeom>
          <a:solidFill>
            <a:srgbClr val="D6C096">
              <a:alpha val="25098"/>
            </a:srgbClr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7"/>
          <p:cNvSpPr/>
          <p:nvPr/>
        </p:nvSpPr>
        <p:spPr>
          <a:xfrm rot="-5400000">
            <a:off x="6031075" y="3569969"/>
            <a:ext cx="495299" cy="9906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B89F6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88" name="Google Shape;388;p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486362" y="3522477"/>
            <a:ext cx="247643" cy="213094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7"/>
          <p:cNvSpPr txBox="1"/>
          <p:nvPr/>
        </p:nvSpPr>
        <p:spPr>
          <a:xfrm>
            <a:off x="6886402" y="3486150"/>
            <a:ext cx="2590735" cy="266699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521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96" u="none" cap="none" strike="noStrike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Parent &amp; Address Registration</a:t>
            </a:r>
            <a:endParaRPr/>
          </a:p>
        </p:txBody>
      </p:sp>
      <p:sp>
        <p:nvSpPr>
          <p:cNvPr id="390" name="Google Shape;390;p7"/>
          <p:cNvSpPr/>
          <p:nvPr/>
        </p:nvSpPr>
        <p:spPr>
          <a:xfrm>
            <a:off x="6229194" y="3943350"/>
            <a:ext cx="5352916" cy="495299"/>
          </a:xfrm>
          <a:prstGeom prst="roundRect">
            <a:avLst>
              <a:gd fmla="val 30769" name="adj"/>
            </a:avLst>
          </a:prstGeom>
          <a:solidFill>
            <a:srgbClr val="D6C096">
              <a:alpha val="25098"/>
            </a:srgbClr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7"/>
          <p:cNvSpPr/>
          <p:nvPr/>
        </p:nvSpPr>
        <p:spPr>
          <a:xfrm rot="-5400000">
            <a:off x="6031075" y="4141469"/>
            <a:ext cx="495299" cy="9906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B89F6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92" name="Google Shape;392;p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486362" y="4122774"/>
            <a:ext cx="247643" cy="155501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7"/>
          <p:cNvSpPr txBox="1"/>
          <p:nvPr/>
        </p:nvSpPr>
        <p:spPr>
          <a:xfrm>
            <a:off x="6886402" y="4057650"/>
            <a:ext cx="2647883" cy="266699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521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96" u="none" cap="none" strike="noStrike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Room Change Request System</a:t>
            </a:r>
            <a:endParaRPr/>
          </a:p>
        </p:txBody>
      </p:sp>
      <p:sp>
        <p:nvSpPr>
          <p:cNvPr id="394" name="Google Shape;394;p7"/>
          <p:cNvSpPr/>
          <p:nvPr/>
        </p:nvSpPr>
        <p:spPr>
          <a:xfrm>
            <a:off x="6229194" y="4514850"/>
            <a:ext cx="5352916" cy="495299"/>
          </a:xfrm>
          <a:prstGeom prst="roundRect">
            <a:avLst>
              <a:gd fmla="val 30769" name="adj"/>
            </a:avLst>
          </a:prstGeom>
          <a:solidFill>
            <a:srgbClr val="D6C096">
              <a:alpha val="25098"/>
            </a:srgbClr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7"/>
          <p:cNvSpPr/>
          <p:nvPr/>
        </p:nvSpPr>
        <p:spPr>
          <a:xfrm rot="-5400000">
            <a:off x="6031075" y="4712969"/>
            <a:ext cx="495299" cy="9906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B89F6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96" name="Google Shape;396;p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486362" y="4668357"/>
            <a:ext cx="247643" cy="207334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7"/>
          <p:cNvSpPr txBox="1"/>
          <p:nvPr/>
        </p:nvSpPr>
        <p:spPr>
          <a:xfrm>
            <a:off x="6886402" y="4629150"/>
            <a:ext cx="2581210" cy="266699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521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96" u="none" cap="none" strike="noStrike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Real-time Notification System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E8E4D8"/>
            </a:gs>
            <a:gs pos="100000">
              <a:srgbClr val="F3F1ED"/>
            </a:gs>
          </a:gsLst>
          <a:lin ang="8100000" scaled="0"/>
        </a:gradFill>
      </p:bgPr>
    </p:bg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8"/>
          <p:cNvSpPr txBox="1"/>
          <p:nvPr/>
        </p:nvSpPr>
        <p:spPr>
          <a:xfrm>
            <a:off x="609584" y="76200"/>
            <a:ext cx="4895727" cy="628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630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31" u="none" cap="none" strike="noStrike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Technical Implementation</a:t>
            </a:r>
            <a:endParaRPr/>
          </a:p>
        </p:txBody>
      </p:sp>
      <p:pic>
        <p:nvPicPr>
          <p:cNvPr descr="image.png" id="403" name="Google Shape;40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584" y="1185041"/>
            <a:ext cx="342891" cy="277867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8"/>
          <p:cNvSpPr txBox="1"/>
          <p:nvPr/>
        </p:nvSpPr>
        <p:spPr>
          <a:xfrm>
            <a:off x="1066773" y="1095374"/>
            <a:ext cx="31622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631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13" u="none" cap="none" strike="noStrike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Full-Stack Architecture</a:t>
            </a:r>
            <a:endParaRPr/>
          </a:p>
        </p:txBody>
      </p:sp>
      <p:pic>
        <p:nvPicPr>
          <p:cNvPr descr="image.png" id="405" name="Google Shape;405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584" y="1828385"/>
            <a:ext cx="266693" cy="191328"/>
          </a:xfrm>
          <a:prstGeom prst="rect">
            <a:avLst/>
          </a:prstGeom>
          <a:noFill/>
          <a:ln>
            <a:noFill/>
          </a:ln>
        </p:spPr>
      </p:pic>
      <p:sp>
        <p:nvSpPr>
          <p:cNvPr id="406" name="Google Shape;406;p8"/>
          <p:cNvSpPr txBox="1"/>
          <p:nvPr/>
        </p:nvSpPr>
        <p:spPr>
          <a:xfrm>
            <a:off x="952476" y="1743075"/>
            <a:ext cx="9620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6312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4" u="none" cap="none" strike="noStrike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Backend</a:t>
            </a:r>
            <a:endParaRPr/>
          </a:p>
        </p:txBody>
      </p:sp>
      <p:sp>
        <p:nvSpPr>
          <p:cNvPr id="407" name="Google Shape;407;p8"/>
          <p:cNvSpPr/>
          <p:nvPr/>
        </p:nvSpPr>
        <p:spPr>
          <a:xfrm>
            <a:off x="609584" y="2228850"/>
            <a:ext cx="2638359" cy="495299"/>
          </a:xfrm>
          <a:prstGeom prst="roundRect">
            <a:avLst>
              <a:gd fmla="val 30769" name="adj"/>
            </a:avLst>
          </a:prstGeom>
          <a:solidFill>
            <a:srgbClr val="D6C096">
              <a:alpha val="25098"/>
            </a:srgbClr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8"/>
          <p:cNvSpPr/>
          <p:nvPr/>
        </p:nvSpPr>
        <p:spPr>
          <a:xfrm rot="-5400000">
            <a:off x="411465" y="2426969"/>
            <a:ext cx="495299" cy="9906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B89F6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8"/>
          <p:cNvSpPr txBox="1"/>
          <p:nvPr/>
        </p:nvSpPr>
        <p:spPr>
          <a:xfrm>
            <a:off x="828654" y="2343150"/>
            <a:ext cx="2228794" cy="266699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691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76" u="none" cap="none" strike="noStrike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Node.js + Express.js</a:t>
            </a:r>
            <a:endParaRPr/>
          </a:p>
        </p:txBody>
      </p:sp>
      <p:sp>
        <p:nvSpPr>
          <p:cNvPr id="410" name="Google Shape;410;p8"/>
          <p:cNvSpPr/>
          <p:nvPr/>
        </p:nvSpPr>
        <p:spPr>
          <a:xfrm>
            <a:off x="3324141" y="2228850"/>
            <a:ext cx="2638359" cy="495299"/>
          </a:xfrm>
          <a:prstGeom prst="roundRect">
            <a:avLst>
              <a:gd fmla="val 30769" name="adj"/>
            </a:avLst>
          </a:prstGeom>
          <a:solidFill>
            <a:srgbClr val="D6C096">
              <a:alpha val="25098"/>
            </a:srgbClr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8"/>
          <p:cNvSpPr/>
          <p:nvPr/>
        </p:nvSpPr>
        <p:spPr>
          <a:xfrm rot="-5400000">
            <a:off x="3126022" y="2426969"/>
            <a:ext cx="495299" cy="9906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B89F6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8"/>
          <p:cNvSpPr txBox="1"/>
          <p:nvPr/>
        </p:nvSpPr>
        <p:spPr>
          <a:xfrm>
            <a:off x="3543211" y="2343150"/>
            <a:ext cx="2228794" cy="266699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691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76" u="none" cap="none" strike="noStrike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SQLite + Sequelize ORM</a:t>
            </a:r>
            <a:endParaRPr/>
          </a:p>
        </p:txBody>
      </p:sp>
      <p:sp>
        <p:nvSpPr>
          <p:cNvPr id="413" name="Google Shape;413;p8"/>
          <p:cNvSpPr/>
          <p:nvPr/>
        </p:nvSpPr>
        <p:spPr>
          <a:xfrm>
            <a:off x="609584" y="2800350"/>
            <a:ext cx="2638359" cy="495299"/>
          </a:xfrm>
          <a:prstGeom prst="roundRect">
            <a:avLst>
              <a:gd fmla="val 30769" name="adj"/>
            </a:avLst>
          </a:prstGeom>
          <a:solidFill>
            <a:srgbClr val="D6C096">
              <a:alpha val="25098"/>
            </a:srgbClr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8"/>
          <p:cNvSpPr/>
          <p:nvPr/>
        </p:nvSpPr>
        <p:spPr>
          <a:xfrm rot="-5400000">
            <a:off x="411465" y="2998469"/>
            <a:ext cx="495299" cy="9906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B89F6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8"/>
          <p:cNvSpPr txBox="1"/>
          <p:nvPr/>
        </p:nvSpPr>
        <p:spPr>
          <a:xfrm>
            <a:off x="828654" y="2914650"/>
            <a:ext cx="2228794" cy="266699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691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76" u="none" cap="none" strike="noStrike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JWT Authentication</a:t>
            </a:r>
            <a:endParaRPr/>
          </a:p>
        </p:txBody>
      </p:sp>
      <p:sp>
        <p:nvSpPr>
          <p:cNvPr id="416" name="Google Shape;416;p8"/>
          <p:cNvSpPr/>
          <p:nvPr/>
        </p:nvSpPr>
        <p:spPr>
          <a:xfrm>
            <a:off x="3324141" y="2800350"/>
            <a:ext cx="2638359" cy="495299"/>
          </a:xfrm>
          <a:prstGeom prst="roundRect">
            <a:avLst>
              <a:gd fmla="val 30769" name="adj"/>
            </a:avLst>
          </a:prstGeom>
          <a:solidFill>
            <a:srgbClr val="D6C096">
              <a:alpha val="25098"/>
            </a:srgbClr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8"/>
          <p:cNvSpPr/>
          <p:nvPr/>
        </p:nvSpPr>
        <p:spPr>
          <a:xfrm rot="-5400000">
            <a:off x="3126022" y="2998469"/>
            <a:ext cx="495299" cy="9906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B89F6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8"/>
          <p:cNvSpPr txBox="1"/>
          <p:nvPr/>
        </p:nvSpPr>
        <p:spPr>
          <a:xfrm>
            <a:off x="3543211" y="2914650"/>
            <a:ext cx="2228794" cy="266699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691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76" u="none" cap="none" strike="noStrike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Express-validator</a:t>
            </a:r>
            <a:endParaRPr/>
          </a:p>
        </p:txBody>
      </p:sp>
      <p:pic>
        <p:nvPicPr>
          <p:cNvPr descr="image.png" id="419" name="Google Shape;419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9584" y="3580985"/>
            <a:ext cx="266693" cy="191328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8"/>
          <p:cNvSpPr txBox="1"/>
          <p:nvPr/>
        </p:nvSpPr>
        <p:spPr>
          <a:xfrm>
            <a:off x="952476" y="3486150"/>
            <a:ext cx="990575" cy="37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6312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4" u="none" cap="none" strike="noStrike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Frontend</a:t>
            </a:r>
            <a:endParaRPr/>
          </a:p>
        </p:txBody>
      </p:sp>
      <p:sp>
        <p:nvSpPr>
          <p:cNvPr id="421" name="Google Shape;421;p8"/>
          <p:cNvSpPr/>
          <p:nvPr/>
        </p:nvSpPr>
        <p:spPr>
          <a:xfrm>
            <a:off x="609584" y="3971925"/>
            <a:ext cx="2638359" cy="495299"/>
          </a:xfrm>
          <a:prstGeom prst="roundRect">
            <a:avLst>
              <a:gd fmla="val 30769" name="adj"/>
            </a:avLst>
          </a:prstGeom>
          <a:solidFill>
            <a:srgbClr val="D6C096">
              <a:alpha val="25098"/>
            </a:srgbClr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8"/>
          <p:cNvSpPr/>
          <p:nvPr/>
        </p:nvSpPr>
        <p:spPr>
          <a:xfrm rot="-5400000">
            <a:off x="411465" y="4170044"/>
            <a:ext cx="495299" cy="9906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B89F6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8"/>
          <p:cNvSpPr txBox="1"/>
          <p:nvPr/>
        </p:nvSpPr>
        <p:spPr>
          <a:xfrm>
            <a:off x="828654" y="4086225"/>
            <a:ext cx="2228794" cy="266699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691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76" u="none" cap="none" strike="noStrike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Vue.js 3 (Composition API)</a:t>
            </a:r>
            <a:endParaRPr/>
          </a:p>
        </p:txBody>
      </p:sp>
      <p:sp>
        <p:nvSpPr>
          <p:cNvPr id="424" name="Google Shape;424;p8"/>
          <p:cNvSpPr/>
          <p:nvPr/>
        </p:nvSpPr>
        <p:spPr>
          <a:xfrm>
            <a:off x="3324141" y="3971925"/>
            <a:ext cx="2638359" cy="495299"/>
          </a:xfrm>
          <a:prstGeom prst="roundRect">
            <a:avLst>
              <a:gd fmla="val 30769" name="adj"/>
            </a:avLst>
          </a:prstGeom>
          <a:solidFill>
            <a:srgbClr val="D6C096">
              <a:alpha val="25098"/>
            </a:srgbClr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8"/>
          <p:cNvSpPr/>
          <p:nvPr/>
        </p:nvSpPr>
        <p:spPr>
          <a:xfrm rot="-5400000">
            <a:off x="3126022" y="4170044"/>
            <a:ext cx="495299" cy="9906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B89F6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8"/>
          <p:cNvSpPr txBox="1"/>
          <p:nvPr/>
        </p:nvSpPr>
        <p:spPr>
          <a:xfrm>
            <a:off x="3543211" y="4086225"/>
            <a:ext cx="2228794" cy="266699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691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76" u="none" cap="none" strike="noStrike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Vite Build Tool</a:t>
            </a:r>
            <a:endParaRPr/>
          </a:p>
        </p:txBody>
      </p:sp>
      <p:sp>
        <p:nvSpPr>
          <p:cNvPr id="427" name="Google Shape;427;p8"/>
          <p:cNvSpPr/>
          <p:nvPr/>
        </p:nvSpPr>
        <p:spPr>
          <a:xfrm>
            <a:off x="609584" y="4543425"/>
            <a:ext cx="2638359" cy="495299"/>
          </a:xfrm>
          <a:prstGeom prst="roundRect">
            <a:avLst>
              <a:gd fmla="val 30769" name="adj"/>
            </a:avLst>
          </a:prstGeom>
          <a:solidFill>
            <a:srgbClr val="D6C096">
              <a:alpha val="25098"/>
            </a:srgbClr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8"/>
          <p:cNvSpPr/>
          <p:nvPr/>
        </p:nvSpPr>
        <p:spPr>
          <a:xfrm rot="-5400000">
            <a:off x="411465" y="4741544"/>
            <a:ext cx="495299" cy="9906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B89F6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8"/>
          <p:cNvSpPr txBox="1"/>
          <p:nvPr/>
        </p:nvSpPr>
        <p:spPr>
          <a:xfrm>
            <a:off x="828654" y="4657725"/>
            <a:ext cx="2228794" cy="266699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691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76" u="none" cap="none" strike="noStrike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Pinia State Management</a:t>
            </a:r>
            <a:endParaRPr/>
          </a:p>
        </p:txBody>
      </p:sp>
      <p:sp>
        <p:nvSpPr>
          <p:cNvPr id="430" name="Google Shape;430;p8"/>
          <p:cNvSpPr/>
          <p:nvPr/>
        </p:nvSpPr>
        <p:spPr>
          <a:xfrm>
            <a:off x="3324141" y="4543425"/>
            <a:ext cx="2638359" cy="495299"/>
          </a:xfrm>
          <a:prstGeom prst="roundRect">
            <a:avLst>
              <a:gd fmla="val 30769" name="adj"/>
            </a:avLst>
          </a:prstGeom>
          <a:solidFill>
            <a:srgbClr val="D6C096">
              <a:alpha val="25098"/>
            </a:srgbClr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8"/>
          <p:cNvSpPr/>
          <p:nvPr/>
        </p:nvSpPr>
        <p:spPr>
          <a:xfrm rot="-5400000">
            <a:off x="3126022" y="4741544"/>
            <a:ext cx="495299" cy="9906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B89F6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8"/>
          <p:cNvSpPr txBox="1"/>
          <p:nvPr/>
        </p:nvSpPr>
        <p:spPr>
          <a:xfrm>
            <a:off x="3543211" y="4657725"/>
            <a:ext cx="2228794" cy="266699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691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76" u="none" cap="none" strike="noStrike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Bootstrap 5 UI</a:t>
            </a:r>
            <a:endParaRPr/>
          </a:p>
        </p:txBody>
      </p:sp>
      <p:pic>
        <p:nvPicPr>
          <p:cNvPr descr="image.png" id="433" name="Google Shape;433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29194" y="1164349"/>
            <a:ext cx="342891" cy="319251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8"/>
          <p:cNvSpPr txBox="1"/>
          <p:nvPr/>
        </p:nvSpPr>
        <p:spPr>
          <a:xfrm>
            <a:off x="6686382" y="1095374"/>
            <a:ext cx="253358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631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13" u="none" cap="none" strike="noStrike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Key Achievements</a:t>
            </a:r>
            <a:endParaRPr/>
          </a:p>
        </p:txBody>
      </p:sp>
      <p:sp>
        <p:nvSpPr>
          <p:cNvPr id="435" name="Google Shape;435;p8"/>
          <p:cNvSpPr/>
          <p:nvPr/>
        </p:nvSpPr>
        <p:spPr>
          <a:xfrm>
            <a:off x="6229194" y="1743075"/>
            <a:ext cx="5352916" cy="1057275"/>
          </a:xfrm>
          <a:prstGeom prst="roundRect">
            <a:avLst>
              <a:gd fmla="val 14414" name="adj"/>
            </a:avLst>
          </a:prstGeom>
          <a:solidFill>
            <a:srgbClr val="D6C096">
              <a:alpha val="25098"/>
            </a:srgbClr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8"/>
          <p:cNvSpPr/>
          <p:nvPr/>
        </p:nvSpPr>
        <p:spPr>
          <a:xfrm rot="-5400000">
            <a:off x="5750087" y="2222182"/>
            <a:ext cx="1057275" cy="9906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B89F6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437" name="Google Shape;437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86362" y="1893702"/>
            <a:ext cx="247643" cy="213094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8"/>
          <p:cNvSpPr txBox="1"/>
          <p:nvPr/>
        </p:nvSpPr>
        <p:spPr>
          <a:xfrm>
            <a:off x="6886402" y="1857375"/>
            <a:ext cx="4467113" cy="266699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521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96" u="none" cap="none" strike="noStrike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RESTful API Design</a:t>
            </a:r>
            <a:endParaRPr/>
          </a:p>
        </p:txBody>
      </p:sp>
      <p:sp>
        <p:nvSpPr>
          <p:cNvPr id="439" name="Google Shape;439;p8"/>
          <p:cNvSpPr txBox="1"/>
          <p:nvPr/>
        </p:nvSpPr>
        <p:spPr>
          <a:xfrm>
            <a:off x="6886402" y="2124075"/>
            <a:ext cx="4467113" cy="561974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751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76" u="none" cap="none" strike="noStrike">
                <a:solidFill>
                  <a:srgbClr val="4A4A4A"/>
                </a:solidFill>
                <a:latin typeface="Roboto"/>
                <a:ea typeface="Roboto"/>
                <a:cs typeface="Roboto"/>
                <a:sym typeface="Roboto"/>
              </a:rPr>
              <a:t>5 main API endpoints with comprehensive CRUD operations</a:t>
            </a:r>
            <a:endParaRPr/>
          </a:p>
        </p:txBody>
      </p:sp>
      <p:sp>
        <p:nvSpPr>
          <p:cNvPr id="440" name="Google Shape;440;p8"/>
          <p:cNvSpPr/>
          <p:nvPr/>
        </p:nvSpPr>
        <p:spPr>
          <a:xfrm>
            <a:off x="6229194" y="2876549"/>
            <a:ext cx="5352916" cy="1057275"/>
          </a:xfrm>
          <a:prstGeom prst="roundRect">
            <a:avLst>
              <a:gd fmla="val 14414" name="adj"/>
            </a:avLst>
          </a:prstGeom>
          <a:solidFill>
            <a:srgbClr val="D6C096">
              <a:alpha val="25098"/>
            </a:srgbClr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8"/>
          <p:cNvSpPr/>
          <p:nvPr/>
        </p:nvSpPr>
        <p:spPr>
          <a:xfrm rot="-5400000">
            <a:off x="5750087" y="3355656"/>
            <a:ext cx="1057275" cy="9906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B89F6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442" name="Google Shape;442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86362" y="3027177"/>
            <a:ext cx="247643" cy="213094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8"/>
          <p:cNvSpPr txBox="1"/>
          <p:nvPr/>
        </p:nvSpPr>
        <p:spPr>
          <a:xfrm>
            <a:off x="6886402" y="2990849"/>
            <a:ext cx="4467113" cy="266699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521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96" u="none" cap="none" strike="noStrike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Secure Authentication</a:t>
            </a:r>
            <a:endParaRPr/>
          </a:p>
        </p:txBody>
      </p:sp>
      <p:sp>
        <p:nvSpPr>
          <p:cNvPr id="444" name="Google Shape;444;p8"/>
          <p:cNvSpPr txBox="1"/>
          <p:nvPr/>
        </p:nvSpPr>
        <p:spPr>
          <a:xfrm>
            <a:off x="6886402" y="3257550"/>
            <a:ext cx="4467113" cy="561974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751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76" u="none" cap="none" strike="noStrike">
                <a:solidFill>
                  <a:srgbClr val="4A4A4A"/>
                </a:solidFill>
                <a:latin typeface="Roboto"/>
                <a:ea typeface="Roboto"/>
                <a:cs typeface="Roboto"/>
                <a:sym typeface="Roboto"/>
              </a:rPr>
              <a:t>JWT-based user authentication and role-based access control</a:t>
            </a:r>
            <a:endParaRPr/>
          </a:p>
        </p:txBody>
      </p:sp>
      <p:sp>
        <p:nvSpPr>
          <p:cNvPr id="445" name="Google Shape;445;p8"/>
          <p:cNvSpPr/>
          <p:nvPr/>
        </p:nvSpPr>
        <p:spPr>
          <a:xfrm>
            <a:off x="6229194" y="4000500"/>
            <a:ext cx="5352916" cy="1057275"/>
          </a:xfrm>
          <a:prstGeom prst="roundRect">
            <a:avLst>
              <a:gd fmla="val 14414" name="adj"/>
            </a:avLst>
          </a:prstGeom>
          <a:solidFill>
            <a:srgbClr val="D6C096">
              <a:alpha val="25098"/>
            </a:srgbClr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8"/>
          <p:cNvSpPr/>
          <p:nvPr/>
        </p:nvSpPr>
        <p:spPr>
          <a:xfrm rot="-5400000">
            <a:off x="5750087" y="4479607"/>
            <a:ext cx="1057275" cy="9906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B89F6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447" name="Google Shape;447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86362" y="4151127"/>
            <a:ext cx="247643" cy="213094"/>
          </a:xfrm>
          <a:prstGeom prst="rect">
            <a:avLst/>
          </a:prstGeom>
          <a:noFill/>
          <a:ln>
            <a:noFill/>
          </a:ln>
        </p:spPr>
      </p:pic>
      <p:sp>
        <p:nvSpPr>
          <p:cNvPr id="448" name="Google Shape;448;p8"/>
          <p:cNvSpPr txBox="1"/>
          <p:nvPr/>
        </p:nvSpPr>
        <p:spPr>
          <a:xfrm>
            <a:off x="6886402" y="4114800"/>
            <a:ext cx="4467113" cy="266699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521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96" u="none" cap="none" strike="noStrike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Modern Development Stack</a:t>
            </a:r>
            <a:endParaRPr/>
          </a:p>
        </p:txBody>
      </p:sp>
      <p:sp>
        <p:nvSpPr>
          <p:cNvPr id="449" name="Google Shape;449;p8"/>
          <p:cNvSpPr txBox="1"/>
          <p:nvPr/>
        </p:nvSpPr>
        <p:spPr>
          <a:xfrm>
            <a:off x="6886402" y="4381499"/>
            <a:ext cx="4467113" cy="561974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751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76" u="none" cap="none" strike="noStrike">
                <a:solidFill>
                  <a:srgbClr val="4A4A4A"/>
                </a:solidFill>
                <a:latin typeface="Roboto"/>
                <a:ea typeface="Roboto"/>
                <a:cs typeface="Roboto"/>
                <a:sym typeface="Roboto"/>
              </a:rPr>
              <a:t>Up-to-date technologies with best practices implementation</a:t>
            </a:r>
            <a:endParaRPr/>
          </a:p>
        </p:txBody>
      </p:sp>
      <p:sp>
        <p:nvSpPr>
          <p:cNvPr id="450" name="Google Shape;450;p8"/>
          <p:cNvSpPr/>
          <p:nvPr/>
        </p:nvSpPr>
        <p:spPr>
          <a:xfrm>
            <a:off x="6229194" y="5238749"/>
            <a:ext cx="5352916" cy="1333500"/>
          </a:xfrm>
          <a:prstGeom prst="roundRect">
            <a:avLst>
              <a:gd fmla="val 11428" name="adj"/>
            </a:avLst>
          </a:prstGeom>
          <a:solidFill>
            <a:srgbClr val="D6C09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8"/>
          <p:cNvSpPr/>
          <p:nvPr/>
        </p:nvSpPr>
        <p:spPr>
          <a:xfrm rot="-5400000">
            <a:off x="5611974" y="5855969"/>
            <a:ext cx="1333500" cy="9906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B89F6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452" name="Google Shape;452;p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62560" y="5486814"/>
            <a:ext cx="266693" cy="208721"/>
          </a:xfrm>
          <a:prstGeom prst="rect">
            <a:avLst/>
          </a:prstGeom>
          <a:noFill/>
          <a:ln>
            <a:noFill/>
          </a:ln>
        </p:spPr>
      </p:pic>
      <p:sp>
        <p:nvSpPr>
          <p:cNvPr id="453" name="Google Shape;453;p8"/>
          <p:cNvSpPr txBox="1"/>
          <p:nvPr/>
        </p:nvSpPr>
        <p:spPr>
          <a:xfrm>
            <a:off x="6943551" y="5429250"/>
            <a:ext cx="2200219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631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15" u="none" cap="none" strike="noStrike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Development Approach</a:t>
            </a:r>
            <a:endParaRPr/>
          </a:p>
        </p:txBody>
      </p:sp>
      <p:sp>
        <p:nvSpPr>
          <p:cNvPr id="454" name="Google Shape;454;p8"/>
          <p:cNvSpPr txBox="1"/>
          <p:nvPr/>
        </p:nvSpPr>
        <p:spPr>
          <a:xfrm>
            <a:off x="6562560" y="5829300"/>
            <a:ext cx="4714757" cy="561974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751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76" u="none" cap="none" strike="noStrike">
                <a:solidFill>
                  <a:srgbClr val="2A2A2A"/>
                </a:solidFill>
                <a:latin typeface="Roboto"/>
                <a:ea typeface="Roboto"/>
                <a:cs typeface="Roboto"/>
                <a:sym typeface="Roboto"/>
              </a:rPr>
              <a:t>Collaborative full-stack development with clean architecture, modular code structure, and comprehensive documentation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E8E4D8"/>
            </a:gs>
            <a:gs pos="100000">
              <a:srgbClr val="F3F1ED"/>
            </a:gs>
          </a:gsLst>
          <a:lin ang="8100000" scaled="0"/>
        </a:gradFill>
      </p:bgPr>
    </p:bg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59" name="Google Shape;45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24361" y="605976"/>
            <a:ext cx="1142971" cy="673997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9"/>
          <p:cNvSpPr txBox="1"/>
          <p:nvPr/>
        </p:nvSpPr>
        <p:spPr>
          <a:xfrm>
            <a:off x="2447863" y="1962149"/>
            <a:ext cx="7295967" cy="10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ctr">
              <a:lnSpc>
                <a:spcPct val="1630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05" u="none" cap="none" strike="noStrike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Köszönöm a figyelmet!</a:t>
            </a:r>
            <a:endParaRPr/>
          </a:p>
        </p:txBody>
      </p:sp>
      <p:sp>
        <p:nvSpPr>
          <p:cNvPr id="461" name="Google Shape;461;p9"/>
          <p:cNvSpPr/>
          <p:nvPr/>
        </p:nvSpPr>
        <p:spPr>
          <a:xfrm>
            <a:off x="5333866" y="3295650"/>
            <a:ext cx="1523961" cy="76200"/>
          </a:xfrm>
          <a:prstGeom prst="rect">
            <a:avLst/>
          </a:prstGeom>
          <a:solidFill>
            <a:srgbClr val="D6C09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9"/>
          <p:cNvSpPr/>
          <p:nvPr/>
        </p:nvSpPr>
        <p:spPr>
          <a:xfrm>
            <a:off x="2447863" y="3752849"/>
            <a:ext cx="3495587" cy="1743075"/>
          </a:xfrm>
          <a:prstGeom prst="roundRect">
            <a:avLst>
              <a:gd fmla="val 8743" name="adj"/>
            </a:avLst>
          </a:prstGeom>
          <a:solidFill>
            <a:srgbClr val="D6C096">
              <a:alpha val="25098"/>
            </a:srgbClr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9"/>
          <p:cNvSpPr/>
          <p:nvPr/>
        </p:nvSpPr>
        <p:spPr>
          <a:xfrm rot="-5400000">
            <a:off x="1625856" y="4574856"/>
            <a:ext cx="1743075" cy="9906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B89F6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464" name="Google Shape;464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81350" y="4089734"/>
            <a:ext cx="457188" cy="240631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465;p9"/>
          <p:cNvSpPr txBox="1"/>
          <p:nvPr/>
        </p:nvSpPr>
        <p:spPr>
          <a:xfrm>
            <a:off x="2781230" y="4552949"/>
            <a:ext cx="2857428" cy="37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ctr">
              <a:lnSpc>
                <a:spcPct val="16312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4" u="none" cap="none" strike="noStrike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GitHub Repository</a:t>
            </a:r>
            <a:endParaRPr/>
          </a:p>
        </p:txBody>
      </p:sp>
      <p:sp>
        <p:nvSpPr>
          <p:cNvPr id="466" name="Google Shape;466;p9"/>
          <p:cNvSpPr txBox="1"/>
          <p:nvPr/>
        </p:nvSpPr>
        <p:spPr>
          <a:xfrm>
            <a:off x="2781230" y="5000625"/>
            <a:ext cx="2857428" cy="266699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ctr">
              <a:lnSpc>
                <a:spcPct val="1521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96" u="none" cap="none" strike="noStrike">
                <a:solidFill>
                  <a:srgbClr val="2A2A2A"/>
                </a:solidFill>
                <a:latin typeface="Roboto Mono"/>
                <a:ea typeface="Roboto Mono"/>
                <a:cs typeface="Roboto Mono"/>
                <a:sym typeface="Roboto Mono"/>
              </a:rPr>
              <a:t>github.com/Kanyr-86/KANYR</a:t>
            </a:r>
            <a:endParaRPr/>
          </a:p>
        </p:txBody>
      </p:sp>
      <p:sp>
        <p:nvSpPr>
          <p:cNvPr id="467" name="Google Shape;467;p9"/>
          <p:cNvSpPr/>
          <p:nvPr/>
        </p:nvSpPr>
        <p:spPr>
          <a:xfrm>
            <a:off x="6248243" y="3752849"/>
            <a:ext cx="3495587" cy="1743075"/>
          </a:xfrm>
          <a:prstGeom prst="roundRect">
            <a:avLst>
              <a:gd fmla="val 8743" name="adj"/>
            </a:avLst>
          </a:prstGeom>
          <a:solidFill>
            <a:srgbClr val="D6C096">
              <a:alpha val="25098"/>
            </a:srgbClr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9"/>
          <p:cNvSpPr/>
          <p:nvPr/>
        </p:nvSpPr>
        <p:spPr>
          <a:xfrm rot="-5400000">
            <a:off x="5426236" y="4574856"/>
            <a:ext cx="1743075" cy="9906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B89F6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469" name="Google Shape;469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81730" y="4035592"/>
            <a:ext cx="457188" cy="348915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470;p9"/>
          <p:cNvSpPr txBox="1"/>
          <p:nvPr/>
        </p:nvSpPr>
        <p:spPr>
          <a:xfrm>
            <a:off x="6581610" y="4552949"/>
            <a:ext cx="2857428" cy="37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ctr">
              <a:lnSpc>
                <a:spcPct val="16312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4" u="none" cap="none" strike="noStrike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Intézmény</a:t>
            </a:r>
            <a:endParaRPr/>
          </a:p>
        </p:txBody>
      </p:sp>
      <p:sp>
        <p:nvSpPr>
          <p:cNvPr id="471" name="Google Shape;471;p9"/>
          <p:cNvSpPr txBox="1"/>
          <p:nvPr/>
        </p:nvSpPr>
        <p:spPr>
          <a:xfrm>
            <a:off x="6581610" y="5000625"/>
            <a:ext cx="2857428" cy="266699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ctr">
              <a:lnSpc>
                <a:spcPct val="1521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96" u="none" cap="none" strike="noStrike">
                <a:solidFill>
                  <a:srgbClr val="2A2A2A"/>
                </a:solidFill>
                <a:latin typeface="Roboto"/>
                <a:ea typeface="Roboto"/>
                <a:cs typeface="Roboto"/>
                <a:sym typeface="Roboto"/>
              </a:rPr>
              <a:t>Ganz Ábrahám Technikum - 13.B</a:t>
            </a:r>
            <a:endParaRPr/>
          </a:p>
        </p:txBody>
      </p:sp>
      <p:sp>
        <p:nvSpPr>
          <p:cNvPr id="472" name="Google Shape;472;p9"/>
          <p:cNvSpPr/>
          <p:nvPr/>
        </p:nvSpPr>
        <p:spPr>
          <a:xfrm>
            <a:off x="2447863" y="5876925"/>
            <a:ext cx="7295967" cy="609600"/>
          </a:xfrm>
          <a:prstGeom prst="roundRect">
            <a:avLst>
              <a:gd fmla="val 25000" name="adj"/>
            </a:avLst>
          </a:prstGeom>
          <a:solidFill>
            <a:srgbClr val="D6C09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473" name="Google Shape;473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867053" y="6109252"/>
            <a:ext cx="266693" cy="144945"/>
          </a:xfrm>
          <a:prstGeom prst="rect">
            <a:avLst/>
          </a:prstGeom>
          <a:noFill/>
          <a:ln>
            <a:noFill/>
          </a:ln>
        </p:spPr>
      </p:pic>
      <p:sp>
        <p:nvSpPr>
          <p:cNvPr id="474" name="Google Shape;474;p9"/>
          <p:cNvSpPr txBox="1"/>
          <p:nvPr/>
        </p:nvSpPr>
        <p:spPr>
          <a:xfrm>
            <a:off x="4248043" y="6029325"/>
            <a:ext cx="4067100" cy="33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ctr">
              <a:lnSpc>
                <a:spcPct val="14494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35" u="none" cap="none" strike="noStrike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Készítették: </a:t>
            </a:r>
            <a:r>
              <a:rPr b="1" lang="en-US" sz="1435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Pajor Máté</a:t>
            </a:r>
            <a:r>
              <a:rPr b="1" i="0" lang="en-US" sz="1435" u="none" cap="none" strike="noStrike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 &amp; </a:t>
            </a:r>
            <a:r>
              <a:rPr b="1" lang="en-US" sz="1435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Szabó-Geiger Máté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